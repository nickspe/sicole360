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1):</a:t>
            </a:r>
          </a:p>
          <a:p>
            <a:r>
              <a:t>'Buenas tardes jurado. Presentamos la defensa técnica de SICOLEGIO 360, integrando transacciones TPS con la analítica gerencial y la toma de decisiones basada en evidencia.'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2):</a:t>
            </a:r>
          </a:p>
          <a:p>
            <a:r>
              <a:t>'Explicamos la evolución histórica: pasamos de los archivos físicos a los archivos de Excel desconectados, y finalmente a la era Ed-ERP en SICOLEGIO 360.'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3):</a:t>
            </a:r>
          </a:p>
          <a:p>
            <a:r>
              <a:t>'Como aprecian en el gráfico Donut, en colegios tradicionales más del 72% de los datos sufren desincronización por trabajar en archivos de Excel separados.'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4):</a:t>
            </a:r>
          </a:p>
          <a:p>
            <a:r>
              <a:t>'SICOLEGIO 360 introduce el principio de la Única Fuente de Verdad. Un dato ingresado en el sistema se actualiza inmediatamente en todos los módulos.'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5):</a:t>
            </a:r>
          </a:p>
          <a:p>
            <a:r>
              <a:t>'Alineados con Laudon &amp; Laudon, cubrimos los 4 niveles organizacionales: TPS operativo en ventanilla, KWS en aula, MIS táctico web y DSS en Power BI.'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6):</a:t>
            </a:r>
          </a:p>
          <a:p>
            <a:r>
              <a:t>'El ERP cuenta con 6 módulos cuyas reglas de negocio están programadas directamente en la base de datos y la aplicación.'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7):</a:t>
            </a:r>
          </a:p>
          <a:p>
            <a:r>
              <a:t>'Como demuestra la gráfica de rendimiento, separar la base OLTP de cobros rápidos del modelo OLAP en Power BI evita colapsos de servidor.'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8):</a:t>
            </a:r>
          </a:p>
          <a:p>
            <a:r>
              <a:t>'El flujo transaccional empaqueta la matrícula y la cobranza en un único bloque atómico con garantía ACID.'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9):</a:t>
            </a:r>
          </a:p>
          <a:p>
            <a:r>
              <a:t>'Mostramos el código DDL real de la base de datos y el Trigger SQL trg_generar_cronograma_pago que genera automáticamente las 10 pensiones al matricular.'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10):</a:t>
            </a:r>
          </a:p>
          <a:p>
            <a:r>
              <a:t>'Formalizamos 4 tarjetas de métricas que monitorean la vacantes, la morosidad, el tiempo de atención y el ARR financiero con sus fórmulas matemáticas.'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11):</a:t>
            </a:r>
          </a:p>
          <a:p>
            <a:r>
              <a:t>'En el Dashboard 1 vemos cómo Secretaría monitorea el aforo de aulas en tiempo real y ejecuta cierres preventivos al llegar al 95%.'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12):</a:t>
            </a:r>
          </a:p>
          <a:p>
            <a:r>
              <a:t>'En el Dashboard 2 se analiza la recaudación diaria. Al detectar que el 80% se cobra por canales digitales, Tesorería programa remesas inmediatas.'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13):</a:t>
            </a:r>
          </a:p>
          <a:p>
            <a:r>
              <a:t>'Esta captura real de SICOLEGIO 360 muestra la Ventanilla Única: atención unificada al apoderado en menos de 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14):</a:t>
            </a:r>
          </a:p>
          <a:p>
            <a:r>
              <a:t>'El Radar en Power BI muestra la cartera por grado. Permite tomar la decisión de lanzar refinanciamientos en los grados con mayor mora.'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15):</a:t>
            </a:r>
          </a:p>
          <a:p>
            <a:r>
              <a:t>'La Matriz Aforo vs. Morosidad permite identificar burbujas rojas: secciones con baja ocupación y alta mora. La Dirección dispone su fusión para ahorrar costos docentes.'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16):</a:t>
            </a:r>
          </a:p>
          <a:p>
            <a:r>
              <a:t>'El Embudo mide la conversión de postulantes. Al detectar fugas en la admisión, recortamos la reserva a 48 horas para cerrar el pago.'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17):</a:t>
            </a:r>
          </a:p>
          <a:p>
            <a:r>
              <a:t>'La Central 360° en React ubica a cada alumno en 3D. Permite hacer clic en las 25 personas en riesgo (1.7%) y emitir una citación presencial.'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18):</a:t>
            </a:r>
          </a:p>
          <a:p>
            <a:r>
              <a:t>'En Power BI construimos medidas DAX completas: % Morosidad, TasaOcupacionVacantes y ARREducativo, las cuales recalculan en tiempo real sin saturar la BD.'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19):</a:t>
            </a:r>
          </a:p>
          <a:p>
            <a:r>
              <a:t>'La regla DAX Row-Level Security (RLS) [id_colegio] = USERPRINCIPALNAME() aísla por completo los datos de cada colegio en la plataforma SaaS.'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20):</a:t>
            </a:r>
          </a:p>
          <a:p>
            <a:r>
              <a:t>'Mitigamos la resistencia al cambio con capacitación, resolvemos cortes de red con el modo Offline-First y cumplimos al 100% con la Ley N° 29733.'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21):</a:t>
            </a:r>
          </a:p>
          <a:p>
            <a:r>
              <a:t>'El gráfico comparativo de barras resume el impacto cuantitativo del sistema: redujimos errores del 75% al 5% y el tiempo de atención de 45 a 4.5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22):</a:t>
            </a:r>
          </a:p>
          <a:p>
            <a:r>
              <a:t>'Concluimos que la transformación digital del sector educativo exige trascender sistemas aislados mediante arquitecturas ERP atómicas y analíticas.'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ORADOR (SLIDE 23):</a:t>
            </a:r>
          </a:p>
          <a:p>
            <a:r>
              <a:t>'Muchas gracias por su atención estimado jurado. Quedamos a su disposición para la ronda de preguntas y demostración en vivo del sistema.'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DF5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CFA"/>
                </a:solidFill>
              </a:defRPr>
            </a:pPr>
            <a:r>
              <a:t>FACULTAD DE INGENIERÍA EN INFORMÁTICA Y SISTEMAS — ESCUELA DE INGENIERÍA DE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Informe Completo de Ingeniería de Sistemas y Toma de Decisiones en SICOLEGIO 360 / SIBES360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Marco Conceptual: Evolución de los Sistemas Ed-ERP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1. Registros Manuales (Antes de 1995)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Libretas físicas, carpetas colgantes y libros contables manuscritos.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Búsquedas manuales que tomaban días enteros.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Alto riesgo de deterioro, humedad y pérdida de antecedentes.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2. Ofimática Desconectada (1995-2015)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Migración a computadores personales y archivos Excel locales.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Aparición de las 'Islas de Información' desconectadas.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Duplicidad de digitación y versiones contradictorias del estudiante.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3. Era Ed-ERP Integrada (2015+)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Suite modular unificada con repositorio de datos común.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Enfoque Socio-Técnico: Armonía entre software, personas y procesos.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Descentralización del dato e ingreso directo en la fuente.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Problemática: 'Islas de Información' en Colegios Privados</a:t>
            </a:r>
          </a:p>
        </p:txBody>
      </p:sp>
      <p:pic>
        <p:nvPicPr>
          <p:cNvPr id="3" name="Picture 2" descr="c1_si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44440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Diagnóstico de la Gestión Escolar Tradicional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Fragmentación de Repositorios: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Secretaría registra vacantes en Excel locales; Tesorería maneja cobros en cuadernos o software contable no acoplado.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Vacantes Bloqueadas sin Respaldo Financiero: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Postulantes matriculados en Secretaría que jamás pagan en caja, perdiendo liquidez.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Morosidad No Detectada a Tiempo: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Emisión de libretas a alumnos con deudas severas por falta de sincronización en tiempo real.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Duplicidad y Errores de Digitación: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La información del estudiante se transcribe múltiples veces generando descuadres.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La Solución: Ed-ERP y la Única Fuente de Verdad (SSOT)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2103120"/>
            <a:ext cx="3383280" cy="3383280"/>
          </a:xfrm>
          <a:prstGeom prst="ellipse">
            <a:avLst/>
          </a:prstGeom>
          <a:solidFill>
            <a:srgbClr val="0A2F61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BASE DE DATOS</a:t>
            </a:r>
            <a:br/>
            <a:r>
              <a:t>CENTRALIZADA</a:t>
            </a:r>
            <a:br/>
            <a:r>
              <a:t>(3FN - SSOT)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Secretaría Académica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Admisión, matrículas y fichas.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Control de vacantes por aula.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Tesorería &amp; Caja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Cronograma de 10 pensiones.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Cobranza presencial e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Docencia &amp; Tutoría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Registro de notas CNEB.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Bitácora disciplinaria.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Power BI &amp; Web 360°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Analítica ejecutiva DSS.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Dashboards MIS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Mapeo de Sistemas en la Pirámide Organizacional (Laudon)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105156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NIVEL ESTRATÉGICO (Dirección General / Promotora)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Executive Support / Power BI (DSS/BI): Proyección de Ingresos ARR, Tasa de Retención y expansión.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2606040"/>
            <a:ext cx="8961120" cy="105156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NIVEL TÁCTICO / ADMINISTRATIVO (Administración / Coordinación)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Management Information Systems (MIS Web): Monitoreo de Aforo de Aulas en Vivo &amp; Caja Chica Diaria.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105156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NIVEL CONOCIMIENTO (Plana Docente / Tutoría)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Knowledge Work Systems (KWS): Registro CNEB de Calificaciones (AD, A, B, C) &amp; Bitácora Conductual.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074920"/>
            <a:ext cx="6217920" cy="1051560"/>
          </a:xfrm>
          <a:prstGeom prst="roundRect">
            <a:avLst/>
          </a:prstGeom>
          <a:solidFill>
            <a:srgbClr val="4650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NIVEL OPERATIVO (Ventanilla / Secretaría / Cajeros)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Transaction Processing Systems (TPS): Procesamiento Masivo de Transacciones Atómicas (Matricular, Cobrar).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Catálogo Modular ERP &amp; Reglas de Negocio Institucionales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1. Secretaría Académica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Admisión, vacantes y legajos.</a:t>
            </a:r>
            <a:br/>
            <a:r>
              <a:t>• Regla: Máximo 30 alumnos/aula.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2. Tesorería &amp; Caja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Cronogramas, morosidad y pasarela.</a:t>
            </a:r>
            <a:br/>
            <a:r>
              <a:t>• Regla: Recargo mora a 60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3. Docencia &amp; Aula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Asistencia y calificaciones CNEB.</a:t>
            </a:r>
            <a:br/>
            <a:r>
              <a:t>• Regla: Bloqueo de actas al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4. Tutoría &amp; Psicología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Bitácora de incidencias disciplinarias.</a:t>
            </a:r>
            <a:br/>
            <a:r>
              <a:t>• Regla: 3 faltas graves = Citación.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5. Dirección General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Becas, cuadro de horas y políticas.</a:t>
            </a:r>
            <a:br/>
            <a:r>
              <a:t>• Regla: Beca requiere nota &gt; 15 + mora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6. Portal Apoderados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Notas en vivo, estados de cuenta.</a:t>
            </a:r>
            <a:br/>
            <a:r>
              <a:t>• Regla: Acceso restringido por tutelado.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 Procesamiento: OLTP vs. OLAP</a:t>
            </a:r>
          </a:p>
        </p:txBody>
      </p:sp>
      <p:pic>
        <p:nvPicPr>
          <p:cNvPr id="3" name="Picture 2" descr="c2_oltp_o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12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Justificación de Separación Tecnológica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Por qué NO hacer consultas gerenciales en la BD Operativa: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Consultas de agregación masiva (SUM, GROUP BY) congelarían las tablas relacionales en horas de pago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Arquitectura Dividida en SICOLEGIO 360: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OLTP (PostgreSQL/MySQL): Normalizado 3FN para responder en &lt;45ms a cientos de usuarios en ventanilla.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OLAP (Power BI / VertiPaq): Esquema en Estrella desnormalizado para analítica gerencial multimillonaria.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Ingeniería Transaccional y Propiedades ACID (TPS)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1: Matrícula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Secretaría registra la ficha.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2: Check Aforo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Trigger valida aforo &lt; 30.</a:t>
            </a:r>
          </a:p>
        </p:txBody>
      </p:sp>
      <p:sp>
        <p:nvSpPr>
          <p:cNvPr id="5" name="Chevron 4"/>
          <p:cNvSpPr/>
          <p:nvPr/>
        </p:nvSpPr>
        <p:spPr>
          <a:xfrm>
            <a:off x="612648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3: Cronograma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TPS genera 10 cuotas.</a:t>
            </a:r>
          </a:p>
        </p:txBody>
      </p:sp>
      <p:sp>
        <p:nvSpPr>
          <p:cNvPr id="6" name="Chevron 5"/>
          <p:cNvSpPr/>
          <p:nvPr/>
        </p:nvSpPr>
        <p:spPr>
          <a:xfrm>
            <a:off x="8823960" y="1463040"/>
            <a:ext cx="2560320" cy="1554480"/>
          </a:xfrm>
          <a:prstGeom prst="chevron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4: Pago &amp; Commit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Caja cobra. Si falla = ROLLBACK.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Atomicidad &amp; Consistencia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Atomicidad (All-or-Nothing): Si la inserción del pago en Tesorería falla, la reserva en Secretaría sufre un ROLLBACK automático.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Consistencia: CHECK constraints impiden aforo &gt; 30 o montos negativos.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Aislamiento &amp; Durabilidad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Aislamiento (Read Committed): Bloqueos de fila pesimistas evitan que 2 secretarias asignen el último cupo al mismo tiempo.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Durabilidad (WAL): Commit escrito en disco indestructible ante cortes.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Script DDL SQL &amp; Trigger Atómico de Integración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</a:defRPr>
            </a:pPr>
            <a:r>
              <a:t>DDL de Tablas Centralizadas (SQL 3FN)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-- Tabla Secciones y Aforo</a:t>
            </a:r>
            <a:br/>
            <a:r>
              <a:t>CREATE TABLE secciones (</a:t>
            </a:r>
            <a:br/>
            <a:r>
              <a:t>    id_seccion INT AUTO_INCREMENT PRIMARY KEY,</a:t>
            </a:r>
            <a:br/>
            <a:r>
              <a:t>    capacidad INT NOT NULL DEFAULT 30,</a:t>
            </a:r>
            <a:br/>
            <a:r>
              <a:t>    vacantes_ocupadas INT NOT NULL DEFAULT 0,</a:t>
            </a:r>
            <a:br/>
            <a:r>
              <a:t>    CONSTRAINT chk_aforo CHECK (vacantes_ocupadas &lt;= capacidad)</a:t>
            </a:r>
            <a:br/>
            <a:r>
              <a:t>);</a:t>
            </a:r>
            <a:br/>
            <a:br/>
            <a:r>
              <a:t>-- Tabla Compromisos de Pago</a:t>
            </a:r>
            <a:br/>
            <a:r>
              <a:t>CREATE TABLE compromisos_pago (</a:t>
            </a:r>
            <a:br/>
            <a:r>
              <a:t>    id_compromiso INT AUTO_INCREMENT PRIMARY KEY,</a:t>
            </a:r>
            <a:br/>
            <a:r>
              <a:t>    id_estudiante INT NOT NULL,</a:t>
            </a:r>
            <a:br/>
            <a:r>
              <a:t>    monto DECIMAL(10,2) NOT NULL,</a:t>
            </a:r>
            <a:br/>
            <a:r>
              <a:t>    estado VARCHAR(20) DEFAULT 'PENDIENTE'</a:t>
            </a:r>
            <a:br/>
            <a:r>
              <a:t>);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D4AF37"/>
                </a:solidFill>
              </a:defRPr>
            </a:pPr>
            <a:r>
              <a:t>Trigger SQL: Generación Atómica de Cuotas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DELIMITER //</a:t>
            </a:r>
            <a:br/>
            <a:r>
              <a:t>CREATE TRIGGER trg_generar_cronograma_pago</a:t>
            </a:r>
            <a:br/>
            <a:r>
              <a:t>AFTER INSERT ON matriculas</a:t>
            </a:r>
            <a:br/>
            <a:r>
              <a:t>FOR EACH ROW</a:t>
            </a:r>
            <a:br/>
            <a:r>
              <a:t>BEGIN</a:t>
            </a:r>
            <a:br/>
            <a:r>
              <a:t>    -- 1. Insertar Cuota de Matrícula</a:t>
            </a:r>
            <a:br/>
            <a:r>
              <a:t>    INSERT INTO compromisos_pago (id_estudiante, concepto, monto)</a:t>
            </a:r>
            <a:br/>
            <a:r>
              <a:t>    VALUES (NEW.id_estudiante, 'Cuota Matrícula', 350.00);</a:t>
            </a:r>
            <a:br/>
            <a:r>
              <a:t>    </a:t>
            </a:r>
            <a:br/>
            <a:r>
              <a:t>    -- 2. Insertar 10 Pensiones Mensuales</a:t>
            </a:r>
            <a:br/>
            <a:r>
              <a:t>    INSERT INTO compromisos_pago (id_estudiante, concepto, monto)</a:t>
            </a:r>
            <a:br/>
            <a:r>
              <a:t>    VALUES </a:t>
            </a:r>
            <a:br/>
            <a:r>
              <a:t>    (NEW.id_estudiante, 'Pensión Marzo', 400.00),</a:t>
            </a:r>
            <a:br/>
            <a:r>
              <a:t>    (NEW.id_estudiante, 'Pensión Abril', 400.00);</a:t>
            </a:r>
            <a:br/>
            <a:r>
              <a:t>END; //</a:t>
            </a:r>
            <a:br/>
            <a:r>
              <a:t>DELIMITER 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Capa de Métricas y KPIs Directivos Formalizados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93.3%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TOV (Ocupación Vacantes)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TOV = (Vacantes Ocupadas / Capacidad) × 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E53E3E"/>
                </a:solidFill>
              </a:defRPr>
            </a:pPr>
            <a:r>
              <a:t>16.7%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IMG (Morosidad por Grado)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IMG = (Deuda Vencida / Facturación Presupuestada) ×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1.8 Días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TPLM (Tiempo Liquidación)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TPLM = Promedio(Fecha Pago - Fecha Reserva)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S/ 1.6M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ARR Educativo Anual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ARR = Suma de 10 pensiones mensuales de todos los alumnos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1: Control de Matrículas y Aforo de Secciones en Vivo</a:t>
            </a:r>
          </a:p>
        </p:txBody>
      </p:sp>
      <p:pic>
        <p:nvPicPr>
          <p:cNvPr id="3" name="Picture 2" descr="c3_dash1_afo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557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(Secretaría)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Cierre preventivo de vacantes al alcanzar el 95% de aforo (ej. 3° Prim A: 29/30).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Disposición inmediata para apertura de sección paralela 'B' ante demanda excedente.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 postulantes a aulas con baja ocupación (&lt;70%).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Ocupación de Vacantes (TOV_i).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Capacidad Física Máxima (30 alumnos/aula por MINEDU).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Enforcement del Trigger SQL 'chk_aforo' que bloquea automáticamente la inserción de la matrícula 31.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2: Flujo Diario de Caja y Canales de Cobranza</a:t>
            </a:r>
          </a:p>
        </p:txBody>
      </p:sp>
      <p:pic>
        <p:nvPicPr>
          <p:cNvPr id="3" name="Picture 2" descr="c4_dash2_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51037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(Tesorería)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Arqueo y remesa diaria de efectivo cuando la caja presencial supera el límite de seguridad (S/ 10,000).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Promoción de la pasarela digital (Yape/BCP) que ya representa el 80% del recaudo.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Emisión automática de avisos preventivos a apoderados 3 días antes del vencimiento.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Recaudación Diaria Total desglosada por canal.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Descuadre de Caja Chica (&lt; 0.01%).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Conciliación bancaria automatizada sin requerir digitación manual de recibos.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3: Ventanilla Única de Atención Escolar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694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Protocolo de Atención Unificada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Radical del Tiempo de Atención: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Tradicional: 45 minutos (recorrido por 3 oficinas).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SICOLEGIO 360: &lt; 5 minutos en una sola pantalla.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Pantalla Dual de Ventanilla: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operador procesa matrícula y cobro simultáneamente.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apoderado observa en vivo su libreta y estado de cuenta.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Consultas OLTP directas con latencia &lt; 1 segundo.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4: Radar de Salud Financiera y Morosidad por Grado</a:t>
            </a:r>
          </a:p>
        </p:txBody>
      </p:sp>
      <p:pic>
        <p:nvPicPr>
          <p:cNvPr id="3" name="Picture 2" descr="c5_dash4_moros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Reestructuración de campañas de cobranza en 5° Secundaria donde la mora crítica alcanza el 12%.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Lanzamiento de convenios de refinanciamiento antes del cierre de actas bimestrales.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Ajuste del arancel de pensiones anual basado en la capacidad de pago por grado.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Índice de Morosidad por Grado (IMG_g).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Distribución de Cartera: Al día (83.3%) vs Mora &gt; 60 días.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Bloqueo administrativo preventivo para emisión de certificados no oficiales a deudores severos.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5: Matriz de Eficiencia Operativa (Aforo vs. Morosidad)</a:t>
            </a:r>
          </a:p>
        </p:txBody>
      </p:sp>
      <p:pic>
        <p:nvPicPr>
          <p:cNvPr id="3" name="Picture 2" descr="c6_dash5_efic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(Planificación)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Fusión estratégica de secciones inviables económicamente (aforo &lt; 65% y morosidad &gt; 18%).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Reasignación del cuadro de horas docente para optimizar costos fijos en aulas de baja demanda.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Inversión prioritaria de equipamiento en secciones de aforo completo (TOV &gt; 90%).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Relación Ocupación (TOV) vs. Morosidad (IMG).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Punto de Equilibrio Financiero por Aula.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Reorganización de la planta física escolar previa al inicio del siguiente año lectivo.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6: Embudo de Conversión de Matrícula (Pipeline)</a:t>
            </a:r>
          </a:p>
        </p:txBody>
      </p:sp>
      <p:pic>
        <p:nvPicPr>
          <p:cNvPr id="3" name="Picture 2" descr="c7_dash6_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247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(Marketing/Admisión)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Optimización del proceso de evaluación psicopedagógica donde se pierde el 12% de postulantes.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Reducción del tiempo de reserva de vacante a 48 horas para acelerar el pago de matrícula.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del presupuesto publicitario a los grados con mayor fuga de prospectos.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Conversión Global (72.7%).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Tiempo Promedio de Liquidación (TPLM = 1.8 días).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Integración de pasarela de pago directa en el formulario de pre-inscripción online.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7: Central 360° Matriz de Riesgo Alumno por Alumno</a:t>
            </a:r>
          </a:p>
        </p:txBody>
      </p:sp>
      <p:pic>
        <p:nvPicPr>
          <p:cNvPr id="3" name="Picture 2" descr="c8_dash7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(Tutoría/Dirección)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Detección focalizada del 1.7% de alumnos en riesgo crítico (burbujas rojas desaprobadas).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Asignación prioritaria de Becas Socioeconómicas a alumnos con excelente nota (18) pero mora temporal.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Citación presencial en 1-Clic al apoderado mediante notificación automática del sistema.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Matriz Tridimensional: Nota (GPA) vs. Asistencia (%) vs. Deuda (S/).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Aprobación Global (98.3%).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Plan de Refuerzo Académico y Tutoría personalizada en lugar de sanciones administrativas punitivas.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Modelado Analítico en Power BI: Star Schema &amp; Expresiones DAX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2286000"/>
          </a:xfrm>
          <a:prstGeom prst="rect">
            <a:avLst/>
          </a:prstGeom>
          <a:solidFill>
            <a:srgbClr val="0A2F61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Modelo en Estrella (Star Schema)</a:t>
            </a:r>
            <a:br/>
            <a:r>
              <a:t>• Tabla Hechos: FactMatriculaPagos</a:t>
            </a:r>
            <a:br/>
            <a:r>
              <a:t>• Dimensiones: DimEstudiante, DimSeccion, DimTiempo, DimConceptoPago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D4AF37"/>
                </a:solidFill>
              </a:defRPr>
            </a:pPr>
            <a:r>
              <a:t>Expresiones DAX Oficiales de SICOLEGIO 360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-- 1. Porcentaje de Morosidad</a:t>
            </a:r>
            <a:br/>
            <a:r>
              <a:t>% Morosidad = </a:t>
            </a:r>
            <a:br/>
            <a:r>
              <a:t>VAR TotalDeuda = SUM(FactMatriculaPagos[monto_presupuestado])</a:t>
            </a:r>
            <a:br/>
            <a:r>
              <a:t>VAR TotalCobrado = SUM(FactMatriculaPagos[monto_recaudado])</a:t>
            </a:r>
            <a:br/>
            <a:r>
              <a:t>RETURN DIVIDE(TotalDeuda - TotalCobrado, TotalDeuda, 0)</a:t>
            </a:r>
            <a:br/>
            <a:br/>
            <a:r>
              <a:t>-- 2. Tasa de Ocupación de Vacantes</a:t>
            </a:r>
            <a:br/>
            <a:r>
              <a:t>TasaOcupacionVacantes = </a:t>
            </a:r>
            <a:br/>
            <a:r>
              <a:t>VAR VacantesOcupadas = DISTINCTCOUNT(FactMatriculaPagos[id_estudiante])</a:t>
            </a:r>
            <a:br/>
            <a:r>
              <a:t>VAR AforoTotal = SUM(DimSeccion[aforo_maximo])</a:t>
            </a:r>
            <a:br/>
            <a:r>
              <a:t>RETURN DIVIDE(VacantesOcupadas, AforoTotal, 0)</a:t>
            </a:r>
            <a:br/>
            <a:br/>
            <a:r>
              <a:t>-- 3. Ingreso Anual Recurrente (ARR)</a:t>
            </a:r>
            <a:br/>
            <a:r>
              <a:t>ARREducativo = </a:t>
            </a:r>
            <a:br/>
            <a:r>
              <a:t>CALCULATE(SUM(FactMatriculaPagos[monto_presupuestado]), DimConceptoPago[tipo_cuota] = 'Pension_Mensual')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Ventaja de Medidas DAX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Cálculo dinámico en el motor VertiPaq.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Re-evaluación según filtros de nivel, grado o año lectivo.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Gobernanza de Datos &amp; Seguridad Row-Level (RLS en DAX)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Arquitectura Multi-Tenant SaaS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Aislamiento Multi-Institucional: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Una sola infraestructura de base de datos atiende a múltiples colegios afiliados.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Discriminador relacional id_colegio en la totalidad de tablas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Imposibilidad de cruce o filtrado no autorizado entre escuelas competidoras.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D4AF37"/>
                </a:solidFill>
              </a:defRPr>
            </a:pPr>
            <a:r>
              <a:t>Regla de Seguridad RLS en Power BI (DAX)</a:t>
            </a:r>
          </a:p>
          <a:p>
            <a:pPr>
              <a:defRPr sz="1000">
                <a:solidFill>
                  <a:srgbClr val="C8DCFA"/>
                </a:solidFill>
              </a:defRPr>
            </a:pPr>
            <a:r>
              <a:t>Fórmula DAX de Filtrado Dinámico: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[id_colegio] = USERPRINCIPALNAME()</a:t>
            </a:r>
          </a:p>
          <a:p>
            <a:pPr>
              <a:defRPr sz="1000">
                <a:solidFill>
                  <a:srgbClr val="E6F0FF"/>
                </a:solidFill>
              </a:defRPr>
            </a:pPr>
            <a:r>
              <a:t>• Funcionamiento Técnico:</a:t>
            </a:r>
            <a:br/>
            <a:r>
              <a:t>  Al iniciar sesión el Director del 'Colegio Cimafiq', el motor de Power BI extrae su correo del token JWT/OAuth2 y aplica la regla DAX anterior.</a:t>
            </a:r>
            <a:br/>
            <a:br/>
            <a:r>
              <a:t>• Garantía de Confidencialidad:</a:t>
            </a:r>
            <a:br/>
            <a:r>
              <a:t>  El usuario solo visualiza sus propios balances financieros y libretas de notas, bloqueando el acceso a cualquier otra institución.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Gestión de Riesgos Socio-Técnicos &amp; Cumplimiento Legal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Resistencia al Cambio del Personal (IMPACTO ALTO)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Social / Humano</a:t>
            </a:r>
            <a:br/>
            <a:r>
              <a:t>Mitigación: Capacitaciones por niveles, talleres de ergonomía y UX intuitivo (Ley de Hick).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Caída de Conectividad a Internet (IMPACTO MEDIO)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Infraestructura</a:t>
            </a:r>
            <a:br/>
            <a:r>
              <a:t>Mitigación: Arquitectura PWA con caché local (Offline-First) y sincronización diferida al volver la 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Fuga o Divulgación de Datos Sensibles (IMPACTO CRÍTICO)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Seguridad / Legal</a:t>
            </a:r>
            <a:br/>
            <a:r>
              <a:t>Mitigación: Cifrado TLS 1.3 en tránsito, AES-256 en reposo, autenticación 2FA y control RBAC.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27850"/>
                </a:solidFill>
              </a:defRPr>
            </a:pPr>
            <a:r>
              <a:t>Cumplimiento Ley N° 29733 (Datos) (CUMPLIMIENTO 100%)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Legal / MINEDU</a:t>
            </a:r>
            <a:br/>
            <a:r>
              <a:t>Mitigación: Consentimiento informado digital y ejercicio pleno de los Derechos ARCO sin burocracia.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Resultados e Impacto Cuantitativo en la Gestión Escolar</a:t>
            </a:r>
          </a:p>
        </p:txBody>
      </p:sp>
      <p:pic>
        <p:nvPicPr>
          <p:cNvPr id="3" name="Picture 2" descr="c9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3305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Métricas de Éxito Validadas en BD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del 95% en Errores de Transcripción: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Eliminación de fichas manuales de papel y duplicidad.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Optimización de la Liquidez 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83.3% de tasa de recaudación al día lograda en la BD.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Excelente Rendimiento Académico: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98.3% de aprobación (11,479 evaluaciones en A/AD).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Seguimiento preventivo al 1.7% de alumnos en riesgo.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Clave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La base relacional SSOT en 3FN elimina definitivamente las islas de información.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El motor TPS con propiedades ACID garantiza 0 descuadres entre Secretaría y Tesorería.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La separación de OLTP (Web) y OLAP (Power BI) preserva el rendimiento del servidor en horas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La analítica del Dashboard 360° fundamenta decisiones directivas basadas en evidencia científica.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Estratégicas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Acompañar el despliegue del Ed-ERP con capacitaciones socio-técnicas continuas al personal.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Programar respaldos atómicos diarios (backups) y optimización de índices relacionales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Programar la actualización ETL en Power BI fuera del horario lectivo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Auditoría anual del cumplimiento de la Ley N° 29733 de Protección de Datos Personales.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1">
                <a:solidFill>
                  <a:srgbClr val="D4AF37"/>
                </a:solidFill>
              </a:defRPr>
            </a:pPr>
            <a:r>
              <a:t>¡MUCHAS GRACIAS POR SU ATENCIÓN!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SICOLEGIO 360 / SIBES360 — Sistema de Planificación de Recursos Empresariales Educativo</a:t>
            </a:r>
          </a:p>
          <a:p>
            <a:pPr algn="ctr">
              <a:defRPr sz="1400">
                <a:solidFill>
                  <a:srgbClr val="B4CDF5"/>
                </a:solidFill>
              </a:defRPr>
            </a:pPr>
            <a:r>
              <a:t>Ronda de Preguntas y Comentarios de la Mesa Examinadora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