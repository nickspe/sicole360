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05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94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1):</a:t>
            </a:r>
          </a:p>
          <a:p>
            <a:r>
              <a:t>'Buenas tardes jurado. Presentamos la defensa técnica de SICOLEGIO 360, integrando transacciones TPS con la analítica gerencial y la toma de decisiones basada en evidencia.'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2):</a:t>
            </a:r>
          </a:p>
          <a:p>
            <a:r>
              <a:t>'Como aprecian en el gráfico Donut, en colegios tradicionales más del 72% de los datos sufren desincronización por trabajar en archivos de Excel separados.'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3):</a:t>
            </a:r>
          </a:p>
          <a:p>
            <a:r>
              <a:t>'SICOLEGIO 360 introduce el principio de la Única Fuente de Verdad. Un dato ingresado en el sistema se actualiza inmediatamente en todos los módulos.'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4):</a:t>
            </a:r>
          </a:p>
          <a:p>
            <a:r>
              <a:t>'Alineados con Laudon &amp; Laudon, cubrimos los 4 niveles organizacionales: TPS operativo en ventanilla, KWS en aula, MIS táctico web y DSS en Power BI.'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5):</a:t>
            </a:r>
          </a:p>
          <a:p>
            <a:r>
              <a:t>'El ERP cuenta con 6 módulos cuyas reglas de negocio están programadas directamente en la base de datos y la aplicación.'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6):</a:t>
            </a:r>
          </a:p>
          <a:p>
            <a:r>
              <a:t>'Como demuestra la gráfica de rendimiento, separar la base OLTP de cobros rápidos del modelo OLAP en Power BI evita colapsos de servidor.'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7):</a:t>
            </a:r>
          </a:p>
          <a:p>
            <a:r>
              <a:t>'El flujo transaccional empaqueta la matrícula y la cobranza en un único bloque atómico con garantía ACID.'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8):</a:t>
            </a:r>
          </a:p>
          <a:p>
            <a:r>
              <a:t>'Formalizamos 4 tarjetas de métricas que monitorean la vacantes, la morosidad, el tiempo de atención y el ARR financiero.'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9):</a:t>
            </a:r>
          </a:p>
          <a:p>
            <a:r>
              <a:t>'En el Dashboard 1 vemos cómo Secretaría monitorea el aforo de aulas en tiempo real y ejecuta cierres preventivos al llegar al 95%.'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10):</a:t>
            </a:r>
          </a:p>
          <a:p>
            <a:r>
              <a:t>'En el Dashboard 2 se analiza la recaudación diaria. Al detectar que el 80% se cobra por canales digitales, Tesorería programa remesas inmediatas.'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11):</a:t>
            </a:r>
          </a:p>
          <a:p>
            <a:r>
              <a:t>'Esta captura real de SICOLEGIO 360 muestra la Ventanilla Única: atención unificada al apoderado en menos de 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12):</a:t>
            </a:r>
          </a:p>
          <a:p>
            <a:r>
              <a:t>'El Radar en Power BI muestra la cartera por grado. Permite tomar la decisión de lanzar refinanciamientos en los grados con mayor mora.'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13):</a:t>
            </a:r>
          </a:p>
          <a:p>
            <a:r>
              <a:t>'El Embudo mide la conversión de postulantes. Al detectar fugas en la admisión, recortamos la reserva a 48 horas para cerrar el pago.'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14):</a:t>
            </a:r>
          </a:p>
          <a:p>
            <a:r>
              <a:t>'La Central 360° en React ubica a cada alumno en 3D. Permite hacer clic en las 25 personas en riesgo (1.7%) y emitir una citación presencial.'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15):</a:t>
            </a:r>
          </a:p>
          <a:p>
            <a:r>
              <a:t>'El diagrama ilustra el Esquema en Estrella en Power BI con la tabla de hechos central y 4 dimensiones conectadas.'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16):</a:t>
            </a:r>
          </a:p>
          <a:p>
            <a:r>
              <a:t>'La regla DAX Row-Level Security (RLS) aísla la información por colegio en plataformas SaaS multi-tenant.'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17):</a:t>
            </a:r>
          </a:p>
          <a:p>
            <a:r>
              <a:t>'Mitigamos la resistencia al cambio con capacitación, resolvemos cortes de red con el modo Offline-First y cumplimos al 100% con la Ley N° 29733.'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18):</a:t>
            </a:r>
          </a:p>
          <a:p>
            <a:r>
              <a:t>'El gráfico comparativo de barras resume el impacto cuantitativo del sistema: redujimos errores del 75% al 5% y el tiempo de atención de 45 a 4.5 minutos.'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19):</a:t>
            </a:r>
          </a:p>
          <a:p>
            <a:r>
              <a:t>'Concluimos que la transformación digital del sector educativo exige trascender sistemas aislados mediante arquitecturas ERP atómicas y analíticas.'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DISCURSO ORADOR (SLIDE 20):</a:t>
            </a:r>
          </a:p>
          <a:p>
            <a:r>
              <a:t>'Muchas gracias por su atención estimado jurado. Quedamos a su disposición para la ronda de preguntas y demostración en vivo del sistema.'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DF5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CFA"/>
                </a:solidFill>
              </a:defRPr>
            </a:pPr>
            <a:r>
              <a:t>FACULTAD DE INGENIERÍA EN INFORMÁTICA Y SISTEMAS — ESCUELA DE INGENIERÍA DE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Informe de Ingeniería y Toma de Decisiones Directivas en SICOLEGIO 360 / SIBES360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 Problema: 'Islas de Información' en Colegios Privados</a:t>
            </a:r>
          </a:p>
        </p:txBody>
      </p:sp>
      <p:pic>
        <p:nvPicPr>
          <p:cNvPr id="3" name="Picture 2" descr="m1_si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0" cy="44440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Diagnóstico de la Gestión Escolar Tradicional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Fragmentación de Repositorios: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Secretaría registra vacantes en Excel locales; Tesorería maneja cobros en cuadernos o software contable no acoplado.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Vacantes Bloqueadas sin Respaldo Financiero: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Postulantes matriculados en Secretaría que jamás pagan en caja, perdiendo liquidez.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Morosidad No Detectada a Tiempo: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Emisión de libretas a alumnos con deudas severas por falta de sincronización en tiempo real.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Duplicidad y Errores de Digitación: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La información del estudiante se transcribe múltiples veces generando descuadres.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La Solución: Ed-ERP y la Única Fuente de Verdad (SSOT)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2103120"/>
            <a:ext cx="3383280" cy="3383280"/>
          </a:xfrm>
          <a:prstGeom prst="ellipse">
            <a:avLst/>
          </a:prstGeom>
          <a:solidFill>
            <a:srgbClr val="0A2F61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BASE DE DATOS</a:t>
            </a:r>
            <a:br/>
            <a:r>
              <a:t>CENTRALIZADA</a:t>
            </a:r>
            <a:br/>
            <a:r>
              <a:t>(3FN - SSOT)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Secretaría Académica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Admisión, matrículas y fichas.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Control de vacantes por aula.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Tesorería &amp; Caja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Cronograma de 10 pensiones.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Cobranza presencial e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Docencia &amp; Tutoría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Registro de notas CNEB.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Bitácora disciplinaria.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31920"/>
            <a:ext cx="329184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Power BI &amp; Web 360°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Analítica ejecutiva DSS.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Dashboards MIS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Mapeo de Sistemas en la Pirámide Organizacional (Laudon)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105156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NIVEL ESTRATÉGICO (Dirección General / Promotora)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Executive Support / Power BI (DSS/BI): Proyección de Ingresos ARR, Tasa de Retención y expansión.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2606040"/>
            <a:ext cx="8961120" cy="105156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NIVEL TÁCTICO / ADMINISTRATIVO (Administración / Coordinación)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Management Information Systems (MIS Web): Monitoreo de Aforo de Aulas en Vivo &amp; Caja Chica Diaria.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105156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NIVEL CONOCIMIENTO (Plana Docente / Tutoría)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Knowledge Work Systems (KWS): Registro CNEB de Calificaciones (AD, A, B, C) &amp; Bitácora Conductual.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074920"/>
            <a:ext cx="6217920" cy="1051560"/>
          </a:xfrm>
          <a:prstGeom prst="roundRect">
            <a:avLst/>
          </a:prstGeom>
          <a:solidFill>
            <a:srgbClr val="4650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NIVEL OPERATIVO (Ventanilla / Secretaría / Cajeros)</a:t>
            </a:r>
          </a:p>
          <a:p>
            <a:pPr>
              <a:defRPr sz="950">
                <a:solidFill>
                  <a:srgbClr val="E6F0FF"/>
                </a:solidFill>
              </a:defRPr>
            </a:pPr>
            <a:r>
              <a:t>Transaction Processing Systems (TPS): Procesamiento Masivo de Transacciones Atómicas (Matricular, Cobrar).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Catálogo Modular ERP &amp; Reglas de Negocio Institucionales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1. Secretaría Académica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Admisión, vacantes y legajos.</a:t>
            </a:r>
            <a:br/>
            <a:r>
              <a:t>• Regla: Máximo 30 alumnos/aula.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2. Tesorería &amp; Caja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Cronogramas, morosidad y pasarela.</a:t>
            </a:r>
            <a:br/>
            <a:r>
              <a:t>• Regla: Recargo mora a 60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3. Docencia &amp; Aula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Asistencia y calificaciones CNEB.</a:t>
            </a:r>
            <a:br/>
            <a:r>
              <a:t>• Regla: Bloqueo de actas al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4. Tutoría &amp; Psicología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Bitácora de incidencias disciplinarias.</a:t>
            </a:r>
            <a:br/>
            <a:r>
              <a:t>• Regla: 3 faltas graves = Citación.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5. Dirección General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Becas, cuadro de horas y políticas.</a:t>
            </a:r>
            <a:br/>
            <a:r>
              <a:t>• Regla: Beca requiere nota &gt; 15 + mora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84048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6. Portal Apoderados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Notas en vivo, estados de cuenta.</a:t>
            </a:r>
            <a:br/>
            <a:r>
              <a:t>• Regla: Acceso restringido por tutelado.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 Procesamiento: OLTP vs. OLAP</a:t>
            </a:r>
          </a:p>
        </p:txBody>
      </p:sp>
      <p:pic>
        <p:nvPicPr>
          <p:cNvPr id="3" name="Picture 2" descr="m2_oltp_o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312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Justificación de Separación Tecnológica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Por qué NO hacer consultas gerenciales en la BD Operativa: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Consultas de agregación masiva (SUM, GROUP BY) congelarían las tablas relacionales en horas de pago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Arquitectura Dividida en SICOLEGIO 360: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OLTP (PostgreSQL/MySQL): Normalizado 3FN para responder en &lt;45ms a cientos de usuarios en ventanilla.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OLAP (Power BI / VertiPaq): Esquema en Estrella desnormalizado para analítica gerencial multimillonaria.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Ingeniería Transaccional y Propiedades ACID (TPS)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1: Matrícula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Secretaría registra la ficha.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2: Check Aforo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Trigger valida aforo &lt; 30.</a:t>
            </a:r>
          </a:p>
        </p:txBody>
      </p:sp>
      <p:sp>
        <p:nvSpPr>
          <p:cNvPr id="5" name="Chevron 4"/>
          <p:cNvSpPr/>
          <p:nvPr/>
        </p:nvSpPr>
        <p:spPr>
          <a:xfrm>
            <a:off x="6126480" y="1463040"/>
            <a:ext cx="2560320" cy="155448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3: Cronograma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TPS genera 10 cuotas.</a:t>
            </a:r>
          </a:p>
        </p:txBody>
      </p:sp>
      <p:sp>
        <p:nvSpPr>
          <p:cNvPr id="6" name="Chevron 5"/>
          <p:cNvSpPr/>
          <p:nvPr/>
        </p:nvSpPr>
        <p:spPr>
          <a:xfrm>
            <a:off x="8823960" y="1463040"/>
            <a:ext cx="2560320" cy="1554480"/>
          </a:xfrm>
          <a:prstGeom prst="chevron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4: Pago &amp; Commit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Caja cobra. Si falla = ROLLBACK.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Atomicidad &amp; Consistencia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Atomicidad (All-or-Nothing): Si la inserción del pago en Tesorería falla, la reserva en Secretaría sufre un ROLLBACK automático.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Consistencia: CHECK constraints impiden aforo &gt; 30 o montos negativos.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Aislamiento &amp; Durabilidad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Aislamiento (Read Committed): Bloqueos de fila pesimistas evitan que 2 secretarias asignen el último cupo al mismo tiempo.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Durabilidad (WAL): Commit escrito en disco indestructible ante cortes.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Capa de Métricas y KPIs Directivos Formalizados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93.3%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TOV (Ocupación Vacantes)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Aforo promedio muy saludable (28/30 alumnos)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ctr">
              <a:defRPr sz="3600" b="1">
                <a:solidFill>
                  <a:srgbClr val="E53E3E"/>
                </a:solidFill>
              </a:defRPr>
            </a:pPr>
            <a:r>
              <a:t>16.7%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IMG (Morosidad por Grado)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Cartera vencida bajo control preventivo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1.8 Días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TPLM (Tiempo Liquidación)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Atención fluida y sin colas en caja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S/ 1.6M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ARR Educativo Anual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Facturación bruta proyectada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1: Control de Matrículas y Aforo de Secciones en Vivo</a:t>
            </a:r>
          </a:p>
        </p:txBody>
      </p:sp>
      <p:pic>
        <p:nvPicPr>
          <p:cNvPr id="3" name="Picture 2" descr="m3_dash1_afo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669280" cy="34557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(Secretaría)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Cierre preventivo de vacantes al alcanzar el 95% de aforo (ej. 3° Prim A: 29/30).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Disposición inmediata para apertura de sección paralela 'B' ante demanda excedente.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 postulantes a aulas con baja ocupación (&lt;70%).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Ocupación de Vacantes (TOV_i).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Capacidad Física Máxima (30 alumnos/aula por MINEDU).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Enforcement del Trigger SQL 'chk_aforo' que bloquea automáticamente la inserción de la matrícula 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2: Flujo Diario de Caja y Canales de Cobranza</a:t>
            </a:r>
          </a:p>
        </p:txBody>
      </p:sp>
      <p:pic>
        <p:nvPicPr>
          <p:cNvPr id="3" name="Picture 2" descr="m4_dash2_ca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669280" cy="51037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(Tesorería)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Arqueo y remesa diaria de efectivo cuando la caja presencial supera el límite de seguridad (S/ 10,000).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Promoción de la pasarela digital (Yape/BCP) que ya representa el 80% del recaudo.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Emisión automática de avisos preventivos a apoderados 3 días antes del vencimiento.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Recaudación Diaria Total desglosada por canal.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Descuadre de Caja Chica (&lt; 0.01%).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Conciliación bancaria automatizada sin requerir digitación manual de recibos.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3: Ventanilla Única de Atención Escolar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486400" cy="694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Protocolo de Atención Unificada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Radical del Tiempo de Atención: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Tradicional: 45 minutos (recorrido por 3 oficinas).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SICOLEGIO 360: &lt; 5 minutos en una sola pantalla.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Pantalla Dual de Ventanilla: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operador procesa matrícula y cobro simultáneamente.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- El apoderado observa en vivo su libreta y estado de cuenta.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Consultas OLTP directas con latencia &lt; 1 segundo.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4: Radar de Salud Financiera y Morosidad por Grado</a:t>
            </a:r>
          </a:p>
        </p:txBody>
      </p:sp>
      <p:pic>
        <p:nvPicPr>
          <p:cNvPr id="3" name="Picture 2" descr="m5_dash4_moros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Reestructuración de campañas de cobranza en 5° Secundaria donde la mora crítica alcanza el 12%.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Lanzamiento de convenios de refinanciamiento antes del cierre de actas bimestrales.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Ajuste del arancel de pensiones anual basado en la capacidad de pago por grado.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Índice de Morosidad por Grado (IMG_g).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Distribución de Cartera: Al día (83.3%) vs Mora &gt; 60 días.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Bloqueo administrativo preventivo para emisión de certificados no oficiales a deudores severos.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5: Embudo de Conversión de Matrícula (Pipeline)</a:t>
            </a:r>
          </a:p>
        </p:txBody>
      </p:sp>
      <p:pic>
        <p:nvPicPr>
          <p:cNvPr id="3" name="Picture 2" descr="m6_dash6_emb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669280" cy="34247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(Marketing/Admisión)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Optimización del proceso de evaluación psicopedagógica donde se pierde el 12% de postulantes.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Reducción del tiempo de reserva de vacante a 48 horas para acelerar el pago de matrícula.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Redireccionamiento del presupuesto publicitario a los grados con mayor fuga de prospectos.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Conversión Global (72.7%).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Tiempo Promedio de Liquidación (TPLM = 1.8 días).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Integración de pasarela de pago directa en el formulario de pre-inscripción online.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6: Central 360° Matriz de Riesgo Alumno por Alumno</a:t>
            </a:r>
          </a:p>
        </p:txBody>
      </p:sp>
      <p:pic>
        <p:nvPicPr>
          <p:cNvPr id="3" name="Picture 2" descr="m7_dash7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400"/>
              </a:spcAft>
              <a:defRPr sz="1250" b="1">
                <a:solidFill>
                  <a:srgbClr val="0A2F61"/>
                </a:solidFill>
              </a:defRPr>
            </a:pPr>
            <a:r>
              <a:t>Análisis &amp; Toma de Decisiones (Tutoría/Dirección)</a:t>
            </a:r>
          </a:p>
          <a:p>
            <a:pPr>
              <a:spcAft>
                <a:spcPts val="200"/>
              </a:spcAft>
              <a:defRPr sz="100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Detección focalizada del 1.7% de alumnos en riesgo crítico (burbujas rojas desaprobadas).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Asignación prioritaria de Becas Socioeconómicas a alumnos con excelente nota (18) pero mora temporal.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Citación presencial en 1-Clic al apoderado mediante notificación automática del sistema.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Matriz Tridimensional: Nota (GPA) vs. Asistencia (%) vs. Deuda (S/).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Tasa de Aprobación Global (98.3%).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Plan de Refuerzo Académico y Tutoría personalizada en lugar de sanciones administrativas punitivas.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Modelado Analítico en Power BI (Star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2651760"/>
            <a:ext cx="3383280" cy="2103120"/>
          </a:xfrm>
          <a:prstGeom prst="rect">
            <a:avLst/>
          </a:prstGeom>
          <a:solidFill>
            <a:srgbClr val="0A2F61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FactMatriculaPagos</a:t>
            </a:r>
            <a:br/>
            <a:r>
              <a:t>(Tabla de Hechos Central)</a:t>
            </a:r>
            <a:br/>
            <a:r>
              <a:t>• monto_presupuestado</a:t>
            </a:r>
            <a:br/>
            <a:r>
              <a:t>• monto_recaudado</a:t>
            </a:r>
            <a:br/>
            <a:r>
              <a:t>• dias_atraso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DimEstudiante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DNI, Grado, Nivel,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3716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DimSeccion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Aforo Máximo, Tutor.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DimTiempo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Año, Mes, Trimestre.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31089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DimConceptoPago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Pensión, Matrícula.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Gobernanza de Datos &amp; Seguridad Row-Level (RLS)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Arquitectura Multi-Tenant SaaS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Multi-Institucional: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Una sola infraestructura de base de datos atiende a múltiples colegios afiliados.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Discriminador relacional id_colegio en la totalidad de tablas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Imposibilidad de cruce o filtrado no autorizado entre escuelas competidoras.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spcAft>
                <a:spcPts val="1600"/>
              </a:spcAft>
              <a:defRPr sz="1400" b="1">
                <a:solidFill>
                  <a:srgbClr val="D4AF37"/>
                </a:solidFill>
              </a:defRPr>
            </a:pPr>
            <a:r>
              <a:rPr dirty="0" err="1"/>
              <a:t>Regla</a:t>
            </a:r>
            <a:r>
              <a:rPr dirty="0"/>
              <a:t> de Seguridad RLS en Power BI (DAX)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rPr lang="en-US" dirty="0"/>
              <a:t>[</a:t>
            </a:r>
            <a:r>
              <a:rPr lang="en-US" dirty="0" err="1"/>
              <a:t>id_colegio</a:t>
            </a:r>
            <a:r>
              <a:rPr lang="en-US" dirty="0"/>
              <a:t>] = USERPRINCIPALNAME()</a:t>
            </a:r>
            <a:endParaRPr dirty="0"/>
          </a:p>
          <a:p>
            <a:pPr>
              <a:defRPr sz="1100">
                <a:solidFill>
                  <a:srgbClr val="DCEBFF"/>
                </a:solidFill>
              </a:defRPr>
            </a:pPr>
            <a:r>
              <a:rPr dirty="0"/>
              <a:t>• Al </a:t>
            </a:r>
            <a:r>
              <a:rPr dirty="0" err="1"/>
              <a:t>autenticarse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Director del 'Colegio </a:t>
            </a:r>
            <a:r>
              <a:rPr dirty="0" err="1"/>
              <a:t>Cimafiq</a:t>
            </a:r>
            <a:r>
              <a:rPr dirty="0"/>
              <a:t>', Power BI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filtro</a:t>
            </a:r>
            <a:r>
              <a:rPr dirty="0"/>
              <a:t> </a:t>
            </a:r>
            <a:r>
              <a:rPr dirty="0" err="1"/>
              <a:t>dinámico</a:t>
            </a:r>
            <a:r>
              <a:rPr dirty="0"/>
              <a:t> DAX.</a:t>
            </a:r>
            <a:br>
              <a:rPr dirty="0"/>
            </a:br>
            <a:br>
              <a:rPr dirty="0"/>
            </a:br>
            <a:r>
              <a:rPr dirty="0"/>
              <a:t>• El </a:t>
            </a:r>
            <a:r>
              <a:rPr dirty="0" err="1"/>
              <a:t>usuario</a:t>
            </a:r>
            <a:r>
              <a:rPr dirty="0"/>
              <a:t> solo </a:t>
            </a:r>
            <a:r>
              <a:rPr dirty="0" err="1"/>
              <a:t>visualiza</a:t>
            </a:r>
            <a:r>
              <a:rPr dirty="0"/>
              <a:t> sus </a:t>
            </a:r>
            <a:r>
              <a:rPr dirty="0" err="1"/>
              <a:t>propios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financieros</a:t>
            </a:r>
            <a:r>
              <a:rPr dirty="0"/>
              <a:t> y </a:t>
            </a:r>
            <a:r>
              <a:rPr dirty="0" err="1"/>
              <a:t>libretas</a:t>
            </a:r>
            <a:r>
              <a:rPr dirty="0"/>
              <a:t> de </a:t>
            </a:r>
            <a:r>
              <a:rPr dirty="0" err="1"/>
              <a:t>notas</a:t>
            </a:r>
            <a:r>
              <a:rPr dirty="0"/>
              <a:t>, </a:t>
            </a:r>
            <a:r>
              <a:rPr dirty="0" err="1"/>
              <a:t>bloqueando</a:t>
            </a:r>
            <a:r>
              <a:rPr dirty="0"/>
              <a:t>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ajeno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Gestión de Riesgos Socio-Técnicos &amp; Cumplimiento Legal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Resistencia al Cambio (IMPACTO ALTO)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Social / Humano</a:t>
            </a:r>
            <a:br/>
            <a:r>
              <a:t>Mitigación: Capacitaciones por niveles y diseño intuitivo UX (Ley de Hick).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Caída de Conectividad (IMPACTO MEDIO)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Infraestructura</a:t>
            </a:r>
            <a:br/>
            <a:r>
              <a:t>Mitigación: Arquitectura PWA con caché local (Offline-First) y sincronización diferida.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E53E3E"/>
                </a:solidFill>
              </a:defRPr>
            </a:pPr>
            <a:r>
              <a:t>Fuga o Divulgación de Datos (IMPACTO CRÍTICO)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Seguridad / Legal</a:t>
            </a:r>
            <a:br/>
            <a:r>
              <a:t>Mitigación: Cifrado TLS 1.3 en tránsito, AES-256 en reposo y 2FA obligatorio.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227850"/>
                </a:solidFill>
              </a:defRPr>
            </a:pPr>
            <a:r>
              <a:t>Cumplimiento Ley N° 29733 (CUMPLIMIENTO 100%)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Legal / MINEDU</a:t>
            </a:r>
            <a:br/>
            <a:r>
              <a:t>Mitigación: Consentimiento informado digital y ejercicio pleno de Derechos ARCO.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Resultados e Impacto Cuantitativo en la Gestión Escolar</a:t>
            </a:r>
          </a:p>
        </p:txBody>
      </p:sp>
      <p:pic>
        <p:nvPicPr>
          <p:cNvPr id="3" name="Picture 2" descr="m8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486400" cy="33305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Métricas de Éxito Validadas en BD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Reducción del 95% en Errores de Transcripción: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Eliminación de fichas manuales de papel y duplicidad.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Optimización de la Liquidez Institucional: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83.3% de tasa de recaudación al día lograda en la BD.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Excelente Rendimiento Académico: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98.3% de aprobación (11,479 evaluaciones en A/AD).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  Seguimiento preventivo al 1.7% de alumnos en riesgo.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INFORMACIÓN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Clave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La base relacional SSOT en 3FN elimina definitivamente las islas de información.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El motor TPS con propiedades ACID garantiza 0 descuadres entre Secretaría y Tesorería.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La separación de OLTP (Web) y OLAP (Power BI) preserva el rendimiento del servidor en horas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La analítica del Dashboard 360° fundamenta decisiones directivas basadas en evidencia científica.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Estratégicas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Acompañar el despliegue del Ed-ERP con capacitaciones socio-técnicas continuas al personal.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Programar respaldos atómicos diarios (backups) y optimización de índices relacionales SQL.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Programar la actualización ETL en Power BI fuera del horario lectivo pico.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Auditoría anual del cumplimiento de la Ley N° 29733 de Protección de Datos Personales.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1">
                <a:solidFill>
                  <a:srgbClr val="D4AF37"/>
                </a:solidFill>
              </a:defRPr>
            </a:pPr>
            <a:r>
              <a:t>¡MUCHAS GRACIAS POR SU ATENCIÓN!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SICOLEGIO 360 / SIBES360 — Sistema de Planificación de Recursos Empresariales Educativo</a:t>
            </a:r>
          </a:p>
          <a:p>
            <a:pPr algn="ctr">
              <a:defRPr sz="1400">
                <a:solidFill>
                  <a:srgbClr val="B4CDF5"/>
                </a:solidFill>
              </a:defRPr>
            </a:pPr>
            <a:r>
              <a:t>Ronda de Preguntas y Comentarios de la Mesa Examinadora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2843</Words>
  <Application>Microsoft Office PowerPoint</Application>
  <PresentationFormat>Panorámica</PresentationFormat>
  <Paragraphs>259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 Manuel Rengifo Fretel-Ing. en Informatica y Sistemas</cp:lastModifiedBy>
  <cp:revision>2</cp:revision>
  <dcterms:created xsi:type="dcterms:W3CDTF">2013-01-27T09:14:16Z</dcterms:created>
  <dcterms:modified xsi:type="dcterms:W3CDTF">2026-07-22T16:30:02Z</dcterms:modified>
  <cp:category/>
</cp:coreProperties>
</file>