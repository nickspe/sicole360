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1):</a:t>
            </a:r>
          </a:p>
          <a:p>
            <a:r>
              <a:t>'Buenas tardes profesor y compañeros. Hoy presentamos la defensa técnica del proyecto SICOLEGIO 360, abordando la integración transaccional TPS y la analítica gerencial en Power BI.'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2):</a:t>
            </a:r>
          </a:p>
          <a:p>
            <a:r>
              <a:t>'Como muestra el gráfico circular a la izquierda, en los colegios tradicionales el 72% de los datos están desincronizados por operar como islas aisladas.'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3):</a:t>
            </a:r>
          </a:p>
          <a:p>
            <a:r>
              <a:t>'La solución es el modelo SSOT. Como aprecian en el esquema radial, todos los módulos consumen y alimentan la misma base relacional centralizada.'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4):</a:t>
            </a:r>
          </a:p>
          <a:p>
            <a:r>
              <a:t>'La pirámide muestra cómo los datos capturados en el nivel operativo (TPS) ascienden hacia los reportes tácticos (MIS) y finalmente a Power BI (DSS).'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5):</a:t>
            </a:r>
          </a:p>
          <a:p>
            <a:r>
              <a:t>'El ERP cuenta con 6 módulos. Cada módulo tiene reglas de negocio estrictas codificadas en el sistema para mantener el orden.'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6):</a:t>
            </a:r>
          </a:p>
          <a:p>
            <a:r>
              <a:t>'Como demuestra el gráfico comparativo, la latencia de OLTP es de 45ms frente a OLAP. Separar ambas capas evita caídas de sistema en matrícula.'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7):</a:t>
            </a:r>
          </a:p>
          <a:p>
            <a:r>
              <a:t>'El flujograma muestra el empaquetado atómico de la matrícula. Todos los pasos se confirman o se revierten juntos mediante un ROLLBACK SQL.'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8):</a:t>
            </a:r>
          </a:p>
          <a:p>
            <a:r>
              <a:t>'Las 4 tarjetas de métricas muestran el pulso del colegio: ocupación de vacantes al 93.3%, morosidad al 16.7% y un ARR garantizado de 1.6 millones.'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9):</a:t>
            </a:r>
          </a:p>
          <a:p>
            <a:r>
              <a:t>'En esta captura real del software web apreciamos la Ventanilla Única. El apoderado realiza su matrícula y pago en menos de 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10):</a:t>
            </a:r>
          </a:p>
          <a:p>
            <a:r>
              <a:t>'El diagrama ilustra el Esquema en Estrella en Power BI. La tabla de hechos central FactMatriculaPagos se analiza a través de 4 dimensiones.'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11):</a:t>
            </a:r>
          </a:p>
          <a:p>
            <a:r>
              <a:t>'En el gráfico de dispersión a la izquierda vemos la Matriz de Riesgo 360°. Las 25 burbujas rojas representan al 1.7% de alumnos con bajo promedio y mora.'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12):</a:t>
            </a:r>
          </a:p>
          <a:p>
            <a:r>
              <a:t>'Mediante Row-Level Security (RLS) en Power BI con la regla USERPRINCIPALNAME, garantizamos que el director de un colegio jamás pueda ver datos de otra escuela.'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13):</a:t>
            </a:r>
          </a:p>
          <a:p>
            <a:r>
              <a:t>'Mitigamos la resistencia al cambio con capacitación, resolvemos cortes de red con el modo Offline-First y cumplimos al 100% con la Ley N° 29733.'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14):</a:t>
            </a:r>
          </a:p>
          <a:p>
            <a:r>
              <a:t>'El gráfico de barras horizontal demuestra cuantitativamente cómo redujimos los errores de digitación del 75% al 5% y el tiempo de atención de 45 a 4.5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15):</a:t>
            </a:r>
          </a:p>
          <a:p>
            <a:r>
              <a:t>'Para concluir: SICOLEGIO 360 demuestra que la integración transaccional y la analítica gerencial son fundamentales para modernizar la gestión escolar. Muchas gracias por su atención.'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DF5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CFA"/>
                </a:solidFill>
              </a:defRPr>
            </a:pPr>
            <a:r>
              <a:t>FACULTAD DE INGENIERÍA EN INFORMÁTICA Y SISTEMAS — ESCUELA DE INGENIERÍA DE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Caso de Estudio: Interacción Transaccional Secretaría Académica - Tesorería en SICOLEGIO 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 Problema: 'Islas de Información' en Colegios Privados</a:t>
            </a:r>
          </a:p>
        </p:txBody>
      </p:sp>
      <p:pic>
        <p:nvPicPr>
          <p:cNvPr id="3" name="Picture 2" descr="g1_si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49476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Cuellos de Botella y Diagnóstico Operativo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Fragmentación de Repositorios: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Secretaría almacena vacantes en Excel aislados; Tesorería registra cobros en cuadernos físicos o software contable no acoplado.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Vacantes Bloqueadas sin Respaldo Financiero: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Postulantes asignados en Secretaría que jamás concretaron el pago en caja, perdiendo liquidez.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Morosidad No Detectada a Tiempo: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Emisión de libretas a alumnos con deudas severas por falta de sincronización en tiempo real.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Duplicidad y Errores de Digitación: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El legajo del estudiante es escrito dos veces, generando inconsistencias y descuadres.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La Solución: Ed-ERP y la Única Fuente de Verdad (SSOT)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2103120"/>
            <a:ext cx="3383280" cy="3383280"/>
          </a:xfrm>
          <a:prstGeom prst="ellipse">
            <a:avLst/>
          </a:prstGeom>
          <a:solidFill>
            <a:srgbClr val="0A2F61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BASE DE DATOS</a:t>
            </a:r>
            <a:br/>
            <a:r>
              <a:t>CENTRALIZADA</a:t>
            </a:r>
            <a:br/>
            <a:r>
              <a:t>(3FN - SSOT)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Secretaría Académica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Admisión, matrículas y fichas.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Control de vacantes por aula.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Tesorería &amp; Caja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Cronograma de 10 pensiones.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Cobranza presencial e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Docencia &amp; Tutoría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Registro de notas CNEB.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Bitácora disciplinaria.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Power BI &amp; Web 360°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Analítica ejecutiva DSS.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Dashboards MIS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Mapeo de Sistemas en la Pirámide Organizacional (Laudon)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105156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NIVEL ESTRATÉGICO (Dirección General / Promotora)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Executive Support / Power BI (DSS/BI): Proyección de Ingresos ARR, Tasa de Retención y expansión.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2606040"/>
            <a:ext cx="8961120" cy="105156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NIVEL TÁCTICO / ADMINISTRATIVO (Administración / Coordinación)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Management Information Systems (MIS Web): Monitoreo de Aforo de Aulas en Vivo &amp; Caja Chica Diaria.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105156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NIVEL CONOCIMIENTO (Plana Docente / Tutoría)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Knowledge Work Systems (KWS): Registro CNEB de Calificaciones (AD, A, B, C) &amp; Bitácora Conductual.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074920"/>
            <a:ext cx="6217920" cy="1051560"/>
          </a:xfrm>
          <a:prstGeom prst="roundRect">
            <a:avLst/>
          </a:prstGeom>
          <a:solidFill>
            <a:srgbClr val="4650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NIVEL OPERATIVO (Ventanilla / Secretaría / Cajeros)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Transaction Processing Systems (TPS): Procesamiento Masivo de Transacciones Atómicas (Matricular, Cobrar).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Catálogo Modular ERP &amp; Reglas de Negocio Institucionales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1. Secretaría Académica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Admisión, vacantes y legajos.</a:t>
            </a:r>
            <a:br/>
            <a:r>
              <a:t>• Regla: Máximo 30 alumnos/aula.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2. Tesorería &amp; Caja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Cronogramas, morosidad y pasarela.</a:t>
            </a:r>
            <a:br/>
            <a:r>
              <a:t>• Regla: Recargo mora a 60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3. Docencia &amp; Aula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Asistencia y calificaciones CNEB.</a:t>
            </a:r>
            <a:br/>
            <a:r>
              <a:t>• Regla: Bloqueo de actas al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4. Tutoría &amp; Psicología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Bitácora de incidencias disciplinarias.</a:t>
            </a:r>
            <a:br/>
            <a:r>
              <a:t>• Regla: 3 faltas graves = Citación.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5. Dirección General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Becas, cuadro de horas y políticas.</a:t>
            </a:r>
            <a:br/>
            <a:r>
              <a:t>• Regla: Beca requiere nota &gt; 15 + mora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6. Portal Apoderados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Notas en vivo, estados de cuenta.</a:t>
            </a:r>
            <a:br/>
            <a:r>
              <a:t>• Regla: Acceso restringido por tutelado.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 Procesamiento: OLTP vs. OLAP</a:t>
            </a:r>
          </a:p>
        </p:txBody>
      </p:sp>
      <p:pic>
        <p:nvPicPr>
          <p:cNvPr id="3" name="Picture 2" descr="g2_oltp_o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9348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Justificación de Separación Tecnológica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Por qué NO hacer consultas gerenciales en la BD Operativa: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Consultas de agregación masiva (SUM, GROUP BY) congelarían las tablas relacionales en horas de pago pico.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Arquitectura Dividida en SICOLEGIO 360: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OLTP (PostgreSQL/MySQL): Normalizado 3FN para responder en &lt;50ms a cientos de usuarios en ventanilla.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OLAP (Power BI / VertiPaq): Esquema en Estrella desnormalizado para analítica gerencial multimillonaria.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Ingeniería Transaccional y Propiedades ACID (TPS)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1: Matrícula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Secretaría registra la ficha.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2: Check Aforo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Trigger valida aforo &lt; 30.</a:t>
            </a:r>
          </a:p>
        </p:txBody>
      </p:sp>
      <p:sp>
        <p:nvSpPr>
          <p:cNvPr id="5" name="Chevron 4"/>
          <p:cNvSpPr/>
          <p:nvPr/>
        </p:nvSpPr>
        <p:spPr>
          <a:xfrm>
            <a:off x="612648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3: Cronograma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TPS genera 10 cuotas.</a:t>
            </a:r>
          </a:p>
        </p:txBody>
      </p:sp>
      <p:sp>
        <p:nvSpPr>
          <p:cNvPr id="6" name="Chevron 5"/>
          <p:cNvSpPr/>
          <p:nvPr/>
        </p:nvSpPr>
        <p:spPr>
          <a:xfrm>
            <a:off x="8823960" y="1463040"/>
            <a:ext cx="2560320" cy="1554480"/>
          </a:xfrm>
          <a:prstGeom prst="chevron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4: Pago &amp; Commit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Caja cobra. Si falla = ROLLBACK.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Atomicidad &amp; Consistencia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Atomicidad (All-or-Nothing): Si la inserción del pago en Tesorería falla, la reserva en Secretaría sufre un ROLLBACK automático.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Consistencia: CHECK constraints impiden aforo &gt; 30 o montos negativos.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Aislamiento &amp; Durabilidad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Aislamiento (Read Committed): Bloqueos de fila pesimistas evitan que 2 secretarias asignen el último cupo al mismo tiempo.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Durabilidad (WAL): Commit escrito en disco indestructible ante cortes.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Capa de Métricas y KPIs Directivos Formalizados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93.3%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TOV (Ocupación Vacantes)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Aforo promedio muy saludable (28/30 alumnos)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E53E3E"/>
                </a:solidFill>
              </a:defRPr>
            </a:pPr>
            <a:r>
              <a:t>16.7%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IMG (Morosidad por Grado)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Cartera vencida bajo control preventivo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1.8 Días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TPLM (Tiempo Liquidación)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Atención fluida y sin colas en caja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S/ 1.6M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ARR Educativo Anual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Facturación bruta proyectada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Dashboards Web Nativos (MIS) &amp; Ventanilla Única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694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Protocolo de Ventanilla Única de Atención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Reducción Radical del Tiempo de Atención: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Tradicional: 45 minutos (recorrido por 3 oficinas).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SICOLEGIO 360: &lt; 5 minutos en una sola pantalla.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Pantalla Dual de Ventanilla: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El operador procesa matrícula y cobro simultáneamente.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El apoderado observa en vivo su libreta y estado de cuenta.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Consultas OLTP directas con latencia &lt; 1 segundo.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Modelado Analítico en Power BI (Star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2651760"/>
            <a:ext cx="3383280" cy="2103120"/>
          </a:xfrm>
          <a:prstGeom prst="rect">
            <a:avLst/>
          </a:prstGeom>
          <a:solidFill>
            <a:srgbClr val="0A2F61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FactMatriculaPagos</a:t>
            </a:r>
            <a:br/>
            <a:r>
              <a:t>(Tabla de Hechos Central)</a:t>
            </a:r>
            <a:br/>
            <a:r>
              <a:t>• monto_presupuestado</a:t>
            </a:r>
            <a:br/>
            <a:r>
              <a:t>• monto_recaudado</a:t>
            </a:r>
            <a:br/>
            <a:r>
              <a:t>• dias_atraso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DimEstudiante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DNI, Grado, Nivel,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DimSeccion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Aforo Máximo, Tutor.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DimTiempo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Año, Mes, Trimestre.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DimConceptoPago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Pensión, Matrícula.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Central de Inteligencia Directiva 360° en React (SIBES360)</a:t>
            </a:r>
          </a:p>
        </p:txBody>
      </p:sp>
      <p:pic>
        <p:nvPicPr>
          <p:cNvPr id="3" name="Picture 2" descr="g3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0669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Innovación en Inteligencia Escolar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Matriz Scatter Plot 360° Alumno por Alumno: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Eje X: Promedio Académico (0-20).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Eje Y: Tasa de Asistencia (%).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Tamaño/Color: Deuda (Rojo = Riesgo C).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Simulador Predictivo 'What-If':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Sliders de Pronto Pago y Recuperación.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Citación en 1-Clic: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- Envío automático de notificaciones a apoderados de alumnos en la zona de riesgo.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Gobernanza de Datos &amp; Seguridad Row-Level (RLS)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Arquitectura Multi-Tenant SaaS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Multi-Institucional: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Una sola infraestructura de base de datos atiende a múltiples colegios afiliados.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Discriminador relacional id_colegio en la totalidad de tablas SQL.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Imposibilidad de cruce o filtrado no autorizado entre escuelas competidoras.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600"/>
              </a:spcAft>
              <a:defRPr sz="1400" b="1">
                <a:solidFill>
                  <a:srgbClr val="D4AF37"/>
                </a:solidFill>
              </a:defRPr>
            </a:pPr>
            <a:r>
              <a:t>Regla de Seguridad RLS en Power BI (DAX)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[id_colegio] = USERPRINCIPALNAME()</a:t>
            </a:r>
          </a:p>
          <a:p>
            <a:pPr>
              <a:defRPr sz="1100">
                <a:solidFill>
                  <a:srgbClr val="DCEBFF"/>
                </a:solidFill>
              </a:defRPr>
            </a:pPr>
            <a:r>
              <a:t>• Al autenticarse el Director del 'Colegio Cimafiq', Power BI aplica automáticamente este filtro dinámico DAX.</a:t>
            </a:r>
            <a:br/>
            <a:br/>
            <a:r>
              <a:t>• El usuario solo visualiza sus propios estados financieros y libretas de notas, bloqueando cualquier dato ajeno.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Gestión de Riesgos Socio-Técnicos &amp; Cumplimiento Legal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Resistencia al Cambio (IMPACTO ALTO)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Social / Humano</a:t>
            </a:r>
            <a:br/>
            <a:r>
              <a:t>Mitigación: Capacitaciones por niveles y diseño intuitivo UX (Ley de Hick).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Caída de Conectividad (IMPACTO MEDIO)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Infraestructura</a:t>
            </a:r>
            <a:br/>
            <a:r>
              <a:t>Mitigación: Arquitectura PWA con caché local (Offline-First) y sincronización diferida.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Fuga o Divulgación de Datos (IMPACTO CRÍTICO)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Seguridad / Legal</a:t>
            </a:r>
            <a:br/>
            <a:r>
              <a:t>Mitigación: Cifrado TLS 1.3 en tránsito, AES-256 en reposo y 2FA obligatorio.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27850"/>
                </a:solidFill>
              </a:defRPr>
            </a:pPr>
            <a:r>
              <a:t>Cumplimiento Ley N° 29733 (CUMPLIMIENTO 100%)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Legal / MINEDU</a:t>
            </a:r>
            <a:br/>
            <a:r>
              <a:t>Mitigación: Consentimiento informado digital y ejercicio pleno de Derechos ARCO.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Resultados e Impacto Cuantitativo en la Gestión Escolar</a:t>
            </a:r>
          </a:p>
        </p:txBody>
      </p:sp>
      <p:pic>
        <p:nvPicPr>
          <p:cNvPr id="3" name="Picture 2" descr="g4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29704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Métricas de Éxito Validadas en BD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Reducción del 95% en Errores de Transcripción: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Eliminación de fichas manuales de papel y duplicidad.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Optimización de la Liquidez Institucional: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83.3% de tasa de recaudación al día lograda en la BD.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Excelente Rendimiento Académico: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98.3% de aprobación (11,479 evaluaciones en A/AD).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Seguimiento preventivo al 1.7% de alumnos en riesgo.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Clave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1. La Única Fuente de Verdad (SSOT) elimina las islas de información definitivamente.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2. Las propiedades ACID garantizan consistencia en matrículas y cobranzas atómicas.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3. La separación OLTP vs. OLAP preserva el rendimiento del servidor en horas pico.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4. La Ventanilla Única reduce el tiempo de atención de 45 a &lt;5 minutos.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Institucionales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1. Acompañar el despliegue del Ed-ERP con capacitaciones socio-técnicas continuas.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2. Programar respaldos atómicos diarios (backups) y optimización de índices SQL.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3. Actualizar vistas ETL en Power BI fuera del horario lectivo pico.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4. Auditoría de cumplimiento legal anual de la Ley N° 29733 de Protección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