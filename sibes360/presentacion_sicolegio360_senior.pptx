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1):</a:t>
            </a:r>
          </a:p>
          <a:p>
            <a:r>
              <a:t>'Buenas tardes estimado jurado. Presentamos la defensa técnica de SICOLEGIO 360, enfocándonos en la toma de decisiones directivas basadas en datos reales.'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2):</a:t>
            </a:r>
          </a:p>
          <a:p>
            <a:r>
              <a:t>'En el Dashboard 1 vemos cómo Secretaría toma decisiones en tiempo real: al llegar a 29 de 30 vacantes (95%), el sistema bloquea automáticamente la asignación para evitar sobreaforo.'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3):</a:t>
            </a:r>
          </a:p>
          <a:p>
            <a:r>
              <a:t>'El Dashboard 2 analiza los canales de cobro. Como el 80% se recauda vía Yape y BCP, el Tesorero programa remesas de efectivo inmediatas y evita riesgos de seguridad en caja.'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4):</a:t>
            </a:r>
          </a:p>
          <a:p>
            <a:r>
              <a:t>'En el Radar de Morosidad de Power BI se observa que 5° Secundaria presenta un 12% de mora crítica. La Dirección toma la decisión estratégica de lanzar refinanciamiento preventivo.'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5):</a:t>
            </a:r>
          </a:p>
          <a:p>
            <a:r>
              <a:t>'La Matriz Aforo vs. Morosidad permite identificar burbujas rojas: secciones con baja ocupación y alta mora. La Dirección dispone su fusión para ahorrar costos docentes.'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6):</a:t>
            </a:r>
          </a:p>
          <a:p>
            <a:r>
              <a:t>'El Embudo de Admisión mide la fuga de postulantes. Al detectar que el 72.7% concreta la matrícula, recortamos el tiempo de reserva a 48 horas para asegurar el recaudo.'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7):</a:t>
            </a:r>
          </a:p>
          <a:p>
            <a:r>
              <a:t>'La Central 360° en React ubica a los 400 alumnos en un plano tridimensional. Permite hacer clic en los 25 alumnos en riesgo (1.7%) y generar una citación o beca de inmediato.'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8):</a:t>
            </a:r>
          </a:p>
          <a:p>
            <a:r>
              <a:t>'Para concluir: SICOLEGIO 360 demuestra que la integración transaccional y la analítica directiva son la clave para la transformación digital del sector educativo. Muchas gracias.'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371600" cy="1371600"/>
          </a:xfrm>
          <a:prstGeom prst="rect">
            <a:avLst/>
          </a:prstGeom>
        </p:spPr>
      </p:pic>
      <p:pic>
        <p:nvPicPr>
          <p:cNvPr id="4" name="Picture 3" descr="LOGO-FIIS-1000x1000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731520"/>
            <a:ext cx="969242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CDF5"/>
                </a:solidFill>
              </a:defRPr>
            </a:pPr>
            <a:r>
              <a:t>UNIVERSIDAD NACIONAL AGRARIA DE LA SELVA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8DCFA"/>
                </a:solidFill>
              </a:defRPr>
            </a:pPr>
            <a:r>
              <a:t>FACULTAD DE INGENIERÍA EN INFORMÁTICA Y SISTEMAS — ESCUELA DE INGENIERÍA DE SISTEMAS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INTEGRACIÓN ERP, TRANSACCIONES TPS Y ANALÍTICA DE NEGOCIOS EN POWER BI Y WEB</a:t>
            </a:r>
          </a:p>
          <a:p>
            <a:pPr algn="ctr">
              <a:spcAft>
                <a:spcPts val="3000"/>
              </a:spcAft>
              <a:defRPr sz="1500">
                <a:solidFill>
                  <a:srgbClr val="DCEBFF"/>
                </a:solidFill>
              </a:defRPr>
            </a:pPr>
            <a:r>
              <a:t>Defensa de Ingeniería y Toma de Decisiones Directivas en SICOLEGIO 360</a:t>
            </a:r>
          </a:p>
          <a:p>
            <a:pPr algn="ctr">
              <a:defRPr sz="1200">
                <a:solidFill>
                  <a:srgbClr val="BED2F0"/>
                </a:solidFill>
              </a:defRPr>
            </a:pPr>
            <a:r>
              <a:t>Autores: Evaristo Jara, Jose Junior | Tapullima Serna, Meselemias</a:t>
            </a:r>
            <a:br/>
            <a:r>
              <a:t>Curso: Sistemas de Información (7° Ciclo)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1: Control de Matrículas y Aforo de Secciones en Vivo</a:t>
            </a:r>
          </a:p>
        </p:txBody>
      </p:sp>
      <p:pic>
        <p:nvPicPr>
          <p:cNvPr id="3" name="Picture 2" descr="dash1_afo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557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Análisis &amp; Toma de Decisiones (Secretaría)</a:t>
            </a:r>
          </a:p>
          <a:p>
            <a:pPr>
              <a:spcAft>
                <a:spcPts val="200"/>
              </a:spcAft>
              <a:defRPr sz="105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Cierre preventivo de vacantes al alcanzar el 95% de aforo (ej. 3° Prim A: 29/30).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Disposición inmediata para apertura de sección paralela 'B' ante demanda excedente.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Redireccionamiento de postulantes a aulas con baja ocupación (&lt;70%).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Tasa de Ocupación de Vacantes (TOV_i).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Capacidad Física Máxima (30 alumnos/aula por MINEDU).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Enforcement del Trigger SQL 'chk_aforo' que bloquea automáticamente la inserción de la matrícula 31.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2: Flujo Diario de Caja y Canales de Cobranza</a:t>
            </a:r>
          </a:p>
        </p:txBody>
      </p:sp>
      <p:pic>
        <p:nvPicPr>
          <p:cNvPr id="3" name="Picture 2" descr="dash2_c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51037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Análisis &amp; Toma de Decisiones (Tesorería)</a:t>
            </a:r>
          </a:p>
          <a:p>
            <a:pPr>
              <a:spcAft>
                <a:spcPts val="200"/>
              </a:spcAft>
              <a:defRPr sz="105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Arqueo y remesa diaria de efectivo cuando la caja presencial supera el límite de seguridad (S/ 10,000).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Promoción de la pasarela digital (Yape/BCP) que ya representa el 80% del recaudo.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Emisión automática de avisos preventivos a apoderados 3 días antes del vencimiento.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Recaudación Diaria Total desglosada por canal.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Descuadre de Caja Chica (&lt; 0.01%).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Conciliación bancaria automatizada sin requerir digitación manual de recibos.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3: Radar de Salud Financiera y Morosidad por Grado</a:t>
            </a:r>
          </a:p>
        </p:txBody>
      </p:sp>
      <p:pic>
        <p:nvPicPr>
          <p:cNvPr id="3" name="Picture 2" descr="dash3_moros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Análisis &amp; Toma de Decisiones (Dirección)</a:t>
            </a:r>
          </a:p>
          <a:p>
            <a:pPr>
              <a:spcAft>
                <a:spcPts val="200"/>
              </a:spcAft>
              <a:defRPr sz="105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Reestructuración de campañas de cobranza en 5° Secundaria donde la mora crítica alcanza el 12%.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Lanzamiento de convenios de refinanciamiento antes del cierre de actas bimestrales.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Ajuste del arancel de pensiones anual basado en la capacidad de pago por grado.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Índice de Morosidad por Grado (IMG_g).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Distribución de Cartera: Al día (83.3%) vs Mora &gt; 60 días.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Bloqueo administrativo preventivo para emisión de certificados no oficiales a deudores severos.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4: Matriz de Eficiencia Operativa (Aforo vs. Morosidad)</a:t>
            </a:r>
          </a:p>
        </p:txBody>
      </p:sp>
      <p:pic>
        <p:nvPicPr>
          <p:cNvPr id="3" name="Picture 2" descr="dash4_matriz_efici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Análisis &amp; Toma de Decisiones (Planificación)</a:t>
            </a:r>
          </a:p>
          <a:p>
            <a:pPr>
              <a:spcAft>
                <a:spcPts val="200"/>
              </a:spcAft>
              <a:defRPr sz="105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Fusión estratégica de secciones inviables económicamente (aforo &lt; 65% y morosidad &gt; 18%).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Reasignación del cuadro de horas docente para optimizar costos fijos en aulas de baja demanda.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Inversión prioritaria de equipamiento en secciones de aforo completo (TOV &gt; 90%).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Relación Ocupación (TOV) vs. Morosidad (IMG).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Punto de Equilibrio Financiero por Aula.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Reorganización de la planta física escolar previa al inicio del siguiente año lectivo.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5: Embudo de Conversión de Matrícula (Pipeline)</a:t>
            </a:r>
          </a:p>
        </p:txBody>
      </p:sp>
      <p:pic>
        <p:nvPicPr>
          <p:cNvPr id="3" name="Picture 2" descr="dash5_emb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247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Análisis &amp; Toma de Decisiones (Marketing/Admisión)</a:t>
            </a:r>
          </a:p>
          <a:p>
            <a:pPr>
              <a:spcAft>
                <a:spcPts val="200"/>
              </a:spcAft>
              <a:defRPr sz="105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Optimización del proceso de evaluación psicopedagógica donde se pierde el 12% de postulantes.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Reducción del tiempo de reserva de vacante a 48 horas para acelerar el pago de matrícula.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Redireccionamiento del presupuesto publicitario a los grados con mayor fuga de prospectos.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Tasa de Conversión Global (72.7%).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Tiempo Promedio de Liquidación (TPLM = 1.8 días).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Integración de pasarela de pago directa en el formulario de pre-inscripción online.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6: Central 360° Matriz de Riesgo Alumno por Alumno</a:t>
            </a:r>
          </a:p>
        </p:txBody>
      </p:sp>
      <p:pic>
        <p:nvPicPr>
          <p:cNvPr id="3" name="Picture 2" descr="dash6_scatt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387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Análisis &amp; Toma de Decisiones (Tutoría/Dirección)</a:t>
            </a:r>
          </a:p>
          <a:p>
            <a:pPr>
              <a:spcAft>
                <a:spcPts val="200"/>
              </a:spcAft>
              <a:defRPr sz="1050" b="1">
                <a:solidFill>
                  <a:srgbClr val="227850"/>
                </a:solidFill>
              </a:defRPr>
            </a:pPr>
            <a:r>
              <a:t>🎯 Toma de Decisiones Habilitadas: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Detección focalizada del 1.7% de alumnos en riesgo crítico (burbujas rojas desaprobadas).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Asignación prioritaria de Becas Socioeconómicas a alumnos con excelente nota (18) pero mora temporal.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Citación presencial en 1-Clic al apoderado mediante notificación automática del sistema.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1C64B4"/>
                </a:solidFill>
              </a:defRPr>
            </a:pPr>
            <a:r>
              <a:t>📊 Indicadores Clave de Gestión: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Matriz Tridimensional: Nota (GPA) vs. Asistencia (%) vs. Deuda (S/).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Tasa de Aprobación Global (98.3%).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50" b="1">
                <a:solidFill>
                  <a:srgbClr val="E53E3E"/>
                </a:solidFill>
              </a:defRPr>
            </a:pPr>
            <a:r>
              <a:t>🚀 Plan de Acción Senior (SI):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Plan de Refuerzo Académico y Tutoría personalizada en lugar de sanciones administrativas punitivas.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900" b="1">
                <a:solidFill>
                  <a:srgbClr val="B4CDF5"/>
                </a:solidFill>
              </a:defRPr>
            </a:pPr>
            <a:r>
              <a:t>SICOLEGIO 360 | SISTEMAS DE INFORMACION - UNAS FIIS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 y Recomendaciones de Ingeniería de Sistemas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Conclusiones de Ingeniería (Senior IS)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1. La base relacional SSOT en 3FN elimina definitivamente las islas de información.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2. El motor TPS con propiedades ACID garantiza 0 descuadres entre Secretaría y Tesorería.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3. La separación de OLTP (Web) y OLAP (Power BI) preserva el rendimiento del servidor en horas pico.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4. La analítica del Dashboard 360° fundamenta decisiones directivas basadas en evidencia científica.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Recomendaciones Estratégicas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1. Acompañar el despliegue del Ed-ERP con capacitaciones socio-técnicas continuas al personal.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2. Programar respaldos atómicos diarios (backups) y optimización de índices relacionales SQL.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3. Programar la actualización ETL en Power BI fuera del horario lectivo pico.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4. Auditoría anual del cumplimiento de la Ley N° 29733 de Protección de Datos Personales.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