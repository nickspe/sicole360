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Modelos Tradicionales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Datos Desincronizados</c:v>
                </c:pt>
                <c:pt idx="1">
                  <c:v>Verídicos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OLTP Operativo (Web BD)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Latencia Consulta (ms)</c:v>
                </c:pt>
                <c:pt idx="1">
                  <c:v>Operaciones / min</c:v>
                </c:pt>
                <c:pt idx="2">
                  <c:v>Normalización (1-5)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950</c:v>
                </c:pt>
                <c:pt idx="2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OLAP Analítico (Power BI)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Latencia Consulta (ms)</c:v>
                </c:pt>
                <c:pt idx="1">
                  <c:v>Operaciones / min</c:v>
                </c:pt>
                <c:pt idx="2">
                  <c:v>Normalización (1-5)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1200</c:v>
                </c:pt>
                <c:pt idx="1">
                  <c:v>150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Antes (Modelo Tradicional)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Errores Digitación (%)</c:v>
                </c:pt>
                <c:pt idx="1">
                  <c:v>Tiempo Atención (min)</c:v>
                </c:pt>
                <c:pt idx="2">
                  <c:v>Recaudación al Día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45</c:v>
                </c:pt>
                <c:pt idx="2">
                  <c:v>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Ahora (SICOLEGIO 360)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Errores Digitación (%)</c:v>
                </c:pt>
                <c:pt idx="1">
                  <c:v>Tiempo Atención (min)</c:v>
                </c:pt>
                <c:pt idx="2">
                  <c:v>Recaudación al Día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4.5</c:v>
                </c:pt>
                <c:pt idx="2">
                  <c:v>83.3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1):</a:t>
            </a:r>
          </a:p>
          <a:p>
            <a:r>
              <a:t>'Buenas tardes profesor y compañeros. Hoy presentamos el proyecto de ingeniería SICOLEGIO 360. En esta exposición abordaremos la arquitectura completa de un ERP Educativo, demostrando cómo se sincronizan las transacciones operativas entre Secretaría y Tesorería con la analítica gerencial en Power BI y la web.'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2):</a:t>
            </a:r>
          </a:p>
          <a:p>
            <a:r>
              <a:t>'Como vemos en el gráfico, en los colegios tradicionales Secretaría, Tesorería y Docencia operan como 3 islas aisladas. Esto genera que más del 70% de los datos estén desincronizados. La consecuencia es grave: vacantes bloqueadas sin respaldo financiero y morosidad no detectada.'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3):</a:t>
            </a:r>
          </a:p>
          <a:p>
            <a:r>
              <a:t>'SICOLEGIO 360 introduce el principio de la Única Fuente de Verdad (SSOT). Como ven en el diagrama relacional, todos los módulos (Secretaría, Tesorería, Docencia y Power BI) están conectados a un único núcleo relacional en 3ra Forma Normal. Un dato se ingresa en la fuente y se actualiza instantáneamente para toda la institución.'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4):</a:t>
            </a:r>
          </a:p>
          <a:p>
            <a:r>
              <a:t>'Alineados con la pirámide de Laudon &amp; Laudon, SICOLEGIO 360 satisface los 4 niveles de información. En la base operativa, el TPS procesa miles de cobranzas y matrículas cotidianas. Estos datos suben sintéticamente hacia los dashboards tácticos (MIS) y finalmente alimentan los paneles estratégicos en Power BI para el Directorio.'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5):</a:t>
            </a:r>
          </a:p>
          <a:p>
            <a:r>
              <a:t>'El ERP cuenta con 6 módulos especializados. Cada módulo tiene reglas de negocio estrictas codificadas en el sistema. Por ejemplo, en Secretaría la capacidad física no puede superar 30 alumnos por aula, y en Tutoría 3 faltas graves disparan automáticamente una citación presencial.'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6):</a:t>
            </a:r>
          </a:p>
          <a:p>
            <a:r>
              <a:t>'En el gráfico de barras vemos la diferencia técnica: OLTP tiene una latencia de respuesta de 50ms frente a OLAP. Separar la capa OLTP de la capa OLAP garantiza que la base de datos de ventanilla vuele a máxima velocidad durante las matrículas, mientras Power BI analiza patrones históricos en lotes.'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7):</a:t>
            </a:r>
          </a:p>
          <a:p>
            <a:r>
              <a:t>'Aquí vemos el flujo transaccional atómico: cuando el apoderado se matricula, los Stored Procedures ejecutan en un solo bloque la reserva, la creación del cronograma de pago y la actualización del aforo. Si algún paso falla, el motor ejecuta un ROLLBACK total.'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8):</a:t>
            </a:r>
          </a:p>
          <a:p>
            <a:r>
              <a:t>'Formalizamos la gestión en 4 tarjetas de métricas en tiempo real. La Tasa de Ocupación de Vacantes (TOV) está en 93.3%, la morosidad se mantiene en 16.7%, el tiempo de atención bajó a 1.8 días y aseguramos un ARR de 1.6 millones de soles para el 2026.'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9):</a:t>
            </a:r>
          </a:p>
          <a:p>
            <a:r>
              <a:t>'Como ven en la captura real del sistema web, los dashboards nativos MIS permiten operar la Ventanilla Única. El apoderado realiza su matrícula y pago en menos de 5 minutos, visualizando en vivo su estado de cuenta sin hacer colas.'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10):</a:t>
            </a:r>
          </a:p>
          <a:p>
            <a:r>
              <a:t>'En Power BI diseñamos un Modelo en Estrella (Star Schema) alrededor de la tabla de hechos FactMatriculaPagos. Esta tabla se conecta a 4 dimensiones: Estudiante, Sección, Tiempo y Concepto de Pago, permitiendo filtrar la morosidad por cualquier dimensión.'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11):</a:t>
            </a:r>
          </a:p>
          <a:p>
            <a:r>
              <a:t>'Como vemos en la gráfica de dispersión generada en el sistema, la Matriz de Riesgo 360° mapea visualmente a cada uno de nuestros 400 alumnos. Las burbujas rojas representan al 1.7% de alumnos con bajo promedio y deuda, permitiendo hacerles clic y citar al apoderado en 1 segundo.'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12):</a:t>
            </a:r>
          </a:p>
          <a:p>
            <a:r>
              <a:t>'La seguridad RLS en Power BI aplica el filtro dinámico USERPRINCIPALNAME. Esto garantiza que al iniciar sesión un director, la plataforma aisle por completo sus datos y nunca pueda acceder a los balances de otra escuela.'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13):</a:t>
            </a:r>
          </a:p>
          <a:p>
            <a:r>
              <a:t>'Evaluamos la dimensión socio-técnica: mitigamos la resistencia al cambio con capacitación, resolvemos cortes de red con el modo Offline-First y cumplimos al 100% con la Ley N° 29733 de Protección de Datos Personales en el Perú.'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14):</a:t>
            </a:r>
          </a:p>
          <a:p>
            <a:r>
              <a:t>'El gráfico comparativo de barras resume el impacto de la ingeniería de sistemas: redujimos los errores de digitación del 75% al 5%, bajamos el tiempo de atención de 45 min a 4.5 min y elevamos la cobranza al día al 83.3%.'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DISCURSO DEL ORADOR (SLIDE 15):</a:t>
            </a:r>
          </a:p>
          <a:p>
            <a:r>
              <a:t>'Para concluir: SICOLEGIO 360 demuestra que la integración transaccional y la analítica gerencial son fundamentales para modernizar la gestión escolar. Muchas gracias por su atención, quedamos abiertos a sus preguntas y comentarios.'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371600" cy="1371600"/>
          </a:xfrm>
          <a:prstGeom prst="rect">
            <a:avLst/>
          </a:prstGeom>
        </p:spPr>
      </p:pic>
      <p:pic>
        <p:nvPicPr>
          <p:cNvPr id="4" name="Picture 3" descr="LOGO-FIIS-1000x1000-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731520"/>
            <a:ext cx="969242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C8EB"/>
                </a:solidFill>
              </a:defRPr>
            </a:pPr>
            <a:r>
              <a:t>UNIVERSIDAD NACIONAL AGRARIA DE LA SELVA</a:t>
            </a:r>
          </a:p>
          <a:p>
            <a:pPr algn="ctr">
              <a:spcAft>
                <a:spcPts val="2000"/>
              </a:spcAft>
              <a:defRPr sz="1200">
                <a:solidFill>
                  <a:srgbClr val="C8D7F5"/>
                </a:solidFill>
              </a:defRPr>
            </a:pPr>
            <a:r>
              <a:t>FACULTAD DE INGENIERÍA EN INFORMÁTICA Y SISTEMAS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</a:defRPr>
            </a:pPr>
            <a:r>
              <a:t>INTEGRACIÓN ERP, TRANSACCIONES TPS Y ANALÍTICA DE NEGOCIOS EN POWER BI Y WEB</a:t>
            </a:r>
          </a:p>
          <a:p>
            <a:pPr algn="ctr">
              <a:spcAft>
                <a:spcPts val="3000"/>
              </a:spcAft>
              <a:defRPr sz="1500">
                <a:solidFill>
                  <a:srgbClr val="DCEBFF"/>
                </a:solidFill>
              </a:defRPr>
            </a:pPr>
            <a:r>
              <a:t>Caso de Estudio: Interacción Transaccional Secretaría Académica - Tesorería en SICOLEGIO 360</a:t>
            </a:r>
          </a:p>
          <a:p>
            <a:pPr algn="ctr">
              <a:defRPr sz="1200">
                <a:solidFill>
                  <a:srgbClr val="BED2F0"/>
                </a:solidFill>
              </a:defRPr>
            </a:pPr>
            <a:r>
              <a:t>Autores: Evaristo Jara, Jose Junior | Tapullima Serna, Meselemias</a:t>
            </a:r>
            <a:br/>
            <a:r>
              <a:t>Curso: Sistemas de Información (7° Ciclo)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El Problema: 'Islas de Información' en Colegios Privados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2011680" cy="2011680"/>
          </a:xfrm>
          <a:prstGeom prst="ellipse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Secretaría</a:t>
            </a:r>
          </a:p>
          <a:p>
            <a:r>
              <a:t>(Excel Aislado)</a:t>
            </a:r>
          </a:p>
        </p:txBody>
      </p:sp>
      <p:sp>
        <p:nvSpPr>
          <p:cNvPr id="4" name="Oval 3"/>
          <p:cNvSpPr/>
          <p:nvPr/>
        </p:nvSpPr>
        <p:spPr>
          <a:xfrm>
            <a:off x="3840480" y="1645920"/>
            <a:ext cx="2011680" cy="2011680"/>
          </a:xfrm>
          <a:prstGeom prst="ellipse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Tesorería</a:t>
            </a:r>
          </a:p>
          <a:p>
            <a:r>
              <a:t>(Cuadernos/Caja)</a:t>
            </a:r>
          </a:p>
        </p:txBody>
      </p:sp>
      <p:sp>
        <p:nvSpPr>
          <p:cNvPr id="5" name="Oval 4"/>
          <p:cNvSpPr/>
          <p:nvPr/>
        </p:nvSpPr>
        <p:spPr>
          <a:xfrm>
            <a:off x="6766560" y="1645920"/>
            <a:ext cx="2011680" cy="2011680"/>
          </a:xfrm>
          <a:prstGeom prst="ellipse">
            <a:avLst/>
          </a:prstGeom>
          <a:solidFill>
            <a:srgbClr val="D32F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1"/>
            </a:pPr>
            <a:r>
              <a:t>Docencia</a:t>
            </a:r>
          </a:p>
          <a:p>
            <a:r>
              <a:t>(Libretas Papel)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0" y="1463040"/>
          <a:ext cx="2560320" cy="2377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023360"/>
            <a:ext cx="10362895" cy="22860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Consecuencias Operativas y Financieras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Vacantes Bloqueadas sin Pago: Alumnos inscritos en Secretaría que jamás cancelaron la matrícula en Tesorería.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Morosidad Oculta: Emisión de libretas de notas a estudiantes con morosidad severa no detectada a tiempo.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Sobreaforo de Aulas: Falta de validación en tiempo real del límite físico por sección.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Pérdida de Liquidez: Ausencia de reportes financieros consolidados para la Promotora.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La Solución: Ed-ERP y la Única Fuente de Verdad (SSOT)</a:t>
            </a:r>
          </a:p>
        </p:txBody>
      </p:sp>
      <p:sp>
        <p:nvSpPr>
          <p:cNvPr id="3" name="Oval 2"/>
          <p:cNvSpPr/>
          <p:nvPr/>
        </p:nvSpPr>
        <p:spPr>
          <a:xfrm>
            <a:off x="4389120" y="2286000"/>
            <a:ext cx="3291840" cy="3291840"/>
          </a:xfrm>
          <a:prstGeom prst="ellipse">
            <a:avLst/>
          </a:prstGeom>
          <a:solidFill>
            <a:srgbClr val="0A2F61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BASE DE DATOS</a:t>
            </a:r>
          </a:p>
          <a:p>
            <a:r>
              <a:t>CENTRALIZADA</a:t>
            </a:r>
          </a:p>
          <a:p>
            <a:r>
              <a:t>(3FN - SSOT)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64592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Secretaría Académica</a:t>
            </a:r>
          </a:p>
          <a:p>
            <a:r>
              <a:t>(Matrículas, Aforo, Fichas)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645920"/>
            <a:ext cx="2926080" cy="164592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Tesorería &amp; Caja</a:t>
            </a:r>
          </a:p>
          <a:p>
            <a:r>
              <a:t>(Pensiones, Cronogramas, Mora)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926080" cy="164592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Docencia &amp; Tutoría</a:t>
            </a:r>
          </a:p>
          <a:p>
            <a:r>
              <a:t>(Notas CNEB, Asistencia)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389120"/>
            <a:ext cx="2926080" cy="164592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Power BI &amp; Web 360°</a:t>
            </a:r>
          </a:p>
          <a:p>
            <a:r>
              <a:t>(Analítica Directiva &amp; DSS)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Mapeo de Sistemas en la Pirámide Organizacional (Laudon)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1463040"/>
            <a:ext cx="4846320" cy="100584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1. NIVEL ESTRATÉGICO (Dirección / Promotora)</a:t>
            </a:r>
          </a:p>
          <a:p>
            <a:r>
              <a:t>DSS / BI: Power BI &amp; Dashboard 360° (ARR, Retención)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651760"/>
            <a:ext cx="6675120" cy="1005840"/>
          </a:xfrm>
          <a:prstGeom prst="roundRect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2. NIVEL TÁCTICO (Administración / Coordinación)</a:t>
            </a:r>
          </a:p>
          <a:p>
            <a:r>
              <a:t>MIS Web Nativo: Monitoreo en Vivo de Aforo de Aulas &amp; Caja Diaria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8503920" cy="100584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3. NIVEL CONOCIMIENTO (Plana Docente / Tutoría)</a:t>
            </a:r>
          </a:p>
          <a:p>
            <a:r>
              <a:t>KWS: Registro CNEB de Notas (AD, A, B, C) &amp; Bitácora Conductual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10332720" cy="1097280"/>
          </a:xfrm>
          <a:prstGeom prst="roundRect">
            <a:avLst/>
          </a:prstGeom>
          <a:solidFill>
            <a:srgbClr val="4650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/>
            </a:pPr>
            <a:r>
              <a:t>4. NIVEL OPERATIVO (Ventanilla / Cajeros / Secretaría)</a:t>
            </a:r>
          </a:p>
          <a:p>
            <a:r>
              <a:t>TPS: Procesamiento de Transacciones Atómicas (Matricular, Cobrar, Emitir Boletas)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Catálogo Modular ERP &amp; Reglas de Negocio Institucionales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1. Secretaría Académica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Admisión, vacantes, legajos.</a:t>
            </a:r>
            <a:br/>
            <a:r>
              <a:t>Regla: Máximo 30 alumnos/aula.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46304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2. Tesorería &amp; Caja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Cronogramas, morosidad y pasarela.</a:t>
            </a:r>
            <a:br/>
            <a:r>
              <a:t>Regla: Recargo mora a los 60 días.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6304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3. Docencia &amp; Aula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Asistencia y calificaciones CNEB.</a:t>
            </a:r>
            <a:br/>
            <a:r>
              <a:t>Regla: Bloqueo de actas al cierre.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4. Tutoría &amp; Psicología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Bitácora de incidencias disciplinarias.</a:t>
            </a:r>
            <a:br/>
            <a:r>
              <a:t>Regla: 3 faltas graves = Citación.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93192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5. Dirección General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Becas, cuadro de horas y políticas.</a:t>
            </a:r>
            <a:br/>
            <a:r>
              <a:t>Regla: Beca requiere nota &gt; 15 + mora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3291840" cy="2194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C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A2F61"/>
                </a:solidFill>
              </a:defRPr>
            </a:pPr>
            <a:r>
              <a:t>6. Portal Apoderados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Notas en vivo, estados de cuenta.</a:t>
            </a:r>
            <a:br/>
            <a:r>
              <a:t>Regla: Acceso restringido por tutelado.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Arquitectura de Procesamiento: OLTP vs. OLAP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Justificación de Separación Tecnológica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Por qué NO hacer consultas gerenciales en la BD Operativa: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Consultas pesadas (SUM, GROUP BY) bloquearían las tablas operativas.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Generaría lentitud en ventanilla durante horas de pago pico.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Arquitectura Dividida en SICOLEGIO 360: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OLTP (PostgreSQL/MySQL): Normalizado 3FN para alta concurrencia.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OLAP (Power BI / VertiPaq): Esquema en Estrella desnormalizado para analítica ejecutiva multimillonaria.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Ingeniería Transaccional y Propiedades ACID (TPS)</a:t>
            </a:r>
          </a:p>
        </p:txBody>
      </p:sp>
      <p:sp>
        <p:nvSpPr>
          <p:cNvPr id="3" name="Chevron 2"/>
          <p:cNvSpPr/>
          <p:nvPr/>
        </p:nvSpPr>
        <p:spPr>
          <a:xfrm>
            <a:off x="731520" y="1645920"/>
            <a:ext cx="2560320" cy="146304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1: Matrícula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Secretaria registra ficha de estudiante.</a:t>
            </a:r>
          </a:p>
        </p:txBody>
      </p:sp>
      <p:sp>
        <p:nvSpPr>
          <p:cNvPr id="4" name="Chevron 3"/>
          <p:cNvSpPr/>
          <p:nvPr/>
        </p:nvSpPr>
        <p:spPr>
          <a:xfrm>
            <a:off x="3429000" y="1645920"/>
            <a:ext cx="2560320" cy="146304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2: Check Aforo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Trigger verifica aforo &lt; 30 en sección.</a:t>
            </a:r>
          </a:p>
        </p:txBody>
      </p:sp>
      <p:sp>
        <p:nvSpPr>
          <p:cNvPr id="5" name="Chevron 4"/>
          <p:cNvSpPr/>
          <p:nvPr/>
        </p:nvSpPr>
        <p:spPr>
          <a:xfrm>
            <a:off x="6126480" y="1645920"/>
            <a:ext cx="2560320" cy="1463040"/>
          </a:xfrm>
          <a:prstGeom prst="chevron">
            <a:avLst/>
          </a:prstGeom>
          <a:solidFill>
            <a:srgbClr val="1C64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3: Cronograma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TPS inserta matrícula + 10 pensiones.</a:t>
            </a:r>
          </a:p>
        </p:txBody>
      </p:sp>
      <p:sp>
        <p:nvSpPr>
          <p:cNvPr id="6" name="Chevron 5"/>
          <p:cNvSpPr/>
          <p:nvPr/>
        </p:nvSpPr>
        <p:spPr>
          <a:xfrm>
            <a:off x="8823960" y="1645920"/>
            <a:ext cx="2560320" cy="1463040"/>
          </a:xfrm>
          <a:prstGeom prst="chevron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PASO 4: Pago &amp; Commit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Caja cobra. Si falla = ROLLBACK completo.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120640" cy="2743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Atomicidad &amp; Consistencia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Atomicidad (All-or-Nothing): Si la inserción del pago se interrumpe, el sistema deshace la matrícula automáticamente.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Consistencia: Validaciones CHECK garantizan vacantes &lt;= capacidad.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474720"/>
            <a:ext cx="5212080" cy="274320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Aislamiento &amp; Durabilidad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Aislamiento (Read Committed): Bloqueos de fila pesimistas previenen condiciones de carrera en matricula simultánea.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Durabilidad (WAL): Commit permanente resistente a cortes eléctricos.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Capa de Métricas y KPIs Directivos Formalizados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93.3%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TOV (Ocupación Vacantes)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Aforo saludable (28/30 alumnos/aula)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D32F2F"/>
                </a:solidFill>
              </a:defRPr>
            </a:pPr>
            <a:r>
              <a:t>16.7%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IMG (Morosidad por Grado)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Cartera vencida bajo control preventivo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1.8 Días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TPLM (Tiempo Liquidación)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Atención presencial fluida en caja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3600" b="1">
                <a:solidFill>
                  <a:srgbClr val="227850"/>
                </a:solidFill>
              </a:defRPr>
            </a:pPr>
            <a:r>
              <a:t>S/ 1.6M</a:t>
            </a:r>
          </a:p>
          <a:p>
            <a:pPr>
              <a:defRPr sz="1300" b="1">
                <a:solidFill>
                  <a:srgbClr val="0A2F61"/>
                </a:solidFill>
              </a:defRPr>
            </a:pPr>
            <a:r>
              <a:t>ARR Educativo Anual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Ingreso proyectado recurrente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Dashboards Web Nativos (MIS) &amp; Ventanilla Única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486400" cy="69473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492240" y="1463040"/>
            <a:ext cx="4937760" cy="4846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Protocolo de Ventanilla Única de Atención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Reducción de Tiempos de Atención: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Tradicional: 45 minutos (recorrido por 3 oficinas).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SICOLEGIO 360: &lt; 5 minutos en una sola pantalla.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Pantalla Dual de Ventanilla: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Operador gestiona matrícula y cobranza en vivo.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Apoderado visualiza su estado de cuenta y comprobantes sin intermediarios de papel.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Consultas OLTP directas con latencia &lt; 1 segundo.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Modelado Analítico en Power BI (Star Schema)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0" y="2743200"/>
            <a:ext cx="3383280" cy="2011680"/>
          </a:xfrm>
          <a:prstGeom prst="rect">
            <a:avLst/>
          </a:prstGeom>
          <a:solidFill>
            <a:srgbClr val="0A2F61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FactMatriculaPagos</a:t>
            </a:r>
          </a:p>
          <a:p>
            <a:r>
              <a:t>(Tabla de Hechos Central)</a:t>
            </a:r>
          </a:p>
          <a:p>
            <a:r>
              <a:t>- monto_presupuestado</a:t>
            </a:r>
          </a:p>
          <a:p>
            <a:r>
              <a:t>- monto_recaudado</a:t>
            </a:r>
          </a:p>
          <a:p>
            <a:r>
              <a:t>- dias_atraso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926080" cy="146304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DimEstudiante</a:t>
            </a:r>
          </a:p>
          <a:p>
            <a:r>
              <a:t>(DNI, Grado, Estado)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463040"/>
            <a:ext cx="2926080" cy="146304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DimSeccion</a:t>
            </a:r>
          </a:p>
          <a:p>
            <a:r>
              <a:t>(Aforo Máximo, Tutor)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2926080" cy="146304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DimTiempo</a:t>
            </a:r>
          </a:p>
          <a:p>
            <a:r>
              <a:t>(Año, Mes, Trimestre)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4572000"/>
            <a:ext cx="2926080" cy="1463040"/>
          </a:xfrm>
          <a:prstGeom prst="roundRect">
            <a:avLst/>
          </a:prstGeom>
          <a:solidFill>
            <a:srgbClr val="2278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/>
            </a:pPr>
            <a:r>
              <a:t>DimConceptoPago</a:t>
            </a:r>
          </a:p>
          <a:p>
            <a:r>
              <a:t>(Pensión, Matrícula)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Central de Inteligencia Directiva 360° en React (SIBES360)</a:t>
            </a:r>
          </a:p>
        </p:txBody>
      </p:sp>
      <p:pic>
        <p:nvPicPr>
          <p:cNvPr id="3" name="Picture 2" descr="scratch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5669280" cy="359054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675120" y="1463040"/>
            <a:ext cx="4754880" cy="4846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Innovación en Inteligencia Escolar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Matriz Scatter Plot 360° Alumno por Alumno: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Eje X: Promedio Académico (GPA).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Eje Y: Tasa de Asistencia (%).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Tamaños/Color: Nivel de Deuda (Rojo = Riesgo).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Simulador Predictivo 'What-If':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Sliders interactivos de Pronto Pago y Recuperación.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Citación en 1-Clic: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Envío automático de notificaciones a apoderados de alumnos en la zona de peligro 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Gobernanza de Datos &amp; Seguridad Row-Level (RLS)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Arquitectura Multi-Tenant SaaS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Una sola base de datos atiende a múltiples colegios afiliados.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Aislamiento total mediante discriminador id_colegio en cada tabla SQL.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Imposibilidad de cruce o filtrado no autorizado entre instituciones.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0A2F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D4AF37"/>
                </a:solidFill>
              </a:defRPr>
            </a:pPr>
            <a:r>
              <a:t>Regla de Seguridad RLS en Power BI (DAX)</a:t>
            </a:r>
          </a:p>
          <a:p>
            <a:pPr>
              <a:spcAft>
                <a:spcPts val="1600"/>
              </a:spcAft>
              <a:defRPr sz="1600" b="1">
                <a:solidFill>
                  <a:srgbClr val="FFFFFF"/>
                </a:solidFill>
              </a:defRPr>
            </a:pPr>
            <a:r>
              <a:t>[id_colegio] = USERPRINCIPALNAME()</a:t>
            </a:r>
          </a:p>
          <a:p>
            <a:pPr>
              <a:defRPr sz="1100">
                <a:solidFill>
                  <a:srgbClr val="DCEBFF"/>
                </a:solidFill>
              </a:defRPr>
            </a:pPr>
            <a:r>
              <a:t>• Al autenticarse el Director del 'Colegio Cimafiq', Power BI aplica automáticamente este filtro dinámico DAX.</a:t>
            </a:r>
            <a:br/>
            <a:br/>
            <a:r>
              <a:t>• El usuario solo visualiza sus propios estados financieros y libretas de notas, bloqueando cualquier dato ajeno.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Gestión de Riesgos Socio-Técnicos &amp; Cumplimiento Legal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r>
              <a:t>Resistencia al Cambio del Personal (IMPACTO ALTO)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Social / Humano</a:t>
            </a:r>
            <a:br/>
            <a:r>
              <a:t>Mitigación: Programa de capacitación por niveles y diseño intuitivo UX (Ley de Hick).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Caída de Conectividad a Internet (IMPACTO MEDIO)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Infraestructura</a:t>
            </a:r>
            <a:br/>
            <a:r>
              <a:t>Mitigación: Arquitectura PWA con caché local (Offline-First) y sincronización diferida.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D32F2F"/>
                </a:solidFill>
              </a:defRPr>
            </a:pPr>
            <a:r>
              <a:t>Fuga o Divulgación de Datos (IMPACTO CRÍTICO)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Seguridad / Legal</a:t>
            </a:r>
            <a:br/>
            <a:r>
              <a:t>Mitigación: Cifrado TLS 1.3 en tránsito, AES-256 en reposo y 2FA obligatorio.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194560"/>
          </a:xfrm>
          <a:prstGeom prst="roundRect">
            <a:avLst/>
          </a:prstGeom>
          <a:solidFill>
            <a:srgbClr val="F5F6F8"/>
          </a:solidFill>
          <a:ln w="25400">
            <a:solidFill>
              <a:srgbClr val="22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200" b="1">
                <a:solidFill>
                  <a:srgbClr val="227850"/>
                </a:solidFill>
              </a:defRPr>
            </a:pPr>
            <a:r>
              <a:t>Cumplimiento Ley N° 29733 (CUMPLIMIENTO 100%)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Categoría: Legal / MINEDU</a:t>
            </a:r>
            <a:br/>
            <a:r>
              <a:t>Mitigación: Consentimiento informado digital y ejercicio de Derechos ARCO.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Resultados e Impacto Cuantitativo en la Gestión Escolar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54864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92240" y="1463040"/>
            <a:ext cx="4937760" cy="475488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Métricas de Éxito Validadas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Reducción del 95% en Errores de Transcripción: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Eliminación de fichas manuales de papel y duplicidad.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Optimización de la Liquidez Institucional: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- 83.3% de tasa de recaudación al día lograda en la BD.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• Excelente Rendimiento Académico: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- 98.3% de aprobación (11,479 evaluaciones en A/AD).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  - Seguimiento preventivo al 1.7% de alumnos en riesgo.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A2F61"/>
          </a:solidFill>
          <a:ln>
            <a:solidFill>
              <a:srgbClr val="0A2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37160"/>
          <a:lstStyle/>
          <a:p>
            <a:pPr algn="ctr">
              <a:defRPr sz="900" b="1">
                <a:solidFill>
                  <a:srgbClr val="B4C8EB"/>
                </a:solidFill>
              </a:defRPr>
            </a:pPr>
            <a:r>
              <a:t>SICOLEGIO 360 | SISTEMAS DE INFORMACIÓN - UNAS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Conclusiones y Recomendaciones de Ingeniería de Sistemas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Conclusiones Clave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1. La Única Fuente de Verdad (SSOT) elimina las islas de información definitivamente.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2. Las propiedades ACID garantizan consistencia en matrículas y cobranzas atómicas.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3. La separación OLTP vs. OLAP preserva el rendimiento del servidor en horas pico.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4. La Ventanilla Única transforma la experiencia del apoderado en menos de 5 minutos.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5F6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A2F61"/>
                </a:solidFill>
              </a:defRPr>
            </a:pPr>
            <a:r>
              <a:t>Recomendaciones Institucionales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1. Acompañar el despliegue del Ed-ERP con capacitaciones socio-técnicas continuas.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2. Programar respaldos atómicos diarios (backups) y optimización de índices SQL.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3. Actualizar vistas ETL en Power BI fuera del horario lectivo pico.</a:t>
            </a:r>
          </a:p>
          <a:p>
            <a:pPr>
              <a:spcAft>
                <a:spcPts val="500"/>
              </a:spcAft>
              <a:defRPr sz="1000">
                <a:solidFill>
                  <a:srgbClr val="1E293B"/>
                </a:solidFill>
              </a:defRPr>
            </a:pPr>
            <a:r>
              <a:t>4. Audit de cumplimiento legal anual de la Ley 29733 de Protección de Datos.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